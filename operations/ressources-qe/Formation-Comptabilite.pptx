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5" r:id="rId2"/>
    <p:sldId id="264" r:id="rId3"/>
    <p:sldId id="343" r:id="rId4"/>
    <p:sldId id="276" r:id="rId5"/>
    <p:sldId id="328" r:id="rId6"/>
    <p:sldId id="329" r:id="rId7"/>
    <p:sldId id="336" r:id="rId8"/>
    <p:sldId id="331" r:id="rId9"/>
    <p:sldId id="332" r:id="rId10"/>
    <p:sldId id="334" r:id="rId11"/>
    <p:sldId id="335" r:id="rId12"/>
    <p:sldId id="333" r:id="rId13"/>
    <p:sldId id="330" r:id="rId14"/>
    <p:sldId id="337" r:id="rId15"/>
    <p:sldId id="338" r:id="rId16"/>
    <p:sldId id="339" r:id="rId17"/>
    <p:sldId id="340" r:id="rId18"/>
    <p:sldId id="341" r:id="rId19"/>
    <p:sldId id="342" r:id="rId20"/>
    <p:sldId id="260" r:id="rId21"/>
    <p:sldId id="261" r:id="rId22"/>
    <p:sldId id="262"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3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837" autoAdjust="0"/>
  </p:normalViewPr>
  <p:slideViewPr>
    <p:cSldViewPr snapToGrid="0">
      <p:cViewPr varScale="1">
        <p:scale>
          <a:sx n="101" d="100"/>
          <a:sy n="101" d="100"/>
        </p:scale>
        <p:origin x="936" y="114"/>
      </p:cViewPr>
      <p:guideLst/>
    </p:cSldViewPr>
  </p:slideViewPr>
  <p:notesTextViewPr>
    <p:cViewPr>
      <p:scale>
        <a:sx n="3" d="2"/>
        <a:sy n="3" d="2"/>
      </p:scale>
      <p:origin x="0" y="0"/>
    </p:cViewPr>
  </p:notesText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60F6-DE77-4D9D-9B3B-AC994115FBF1}" type="datetimeFigureOut">
              <a:rPr lang="fr-FR" smtClean="0"/>
              <a:t>21/01/2021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FCE0E-45EE-4DAE-AD8D-C1A0A4097EC3}" type="slidenum">
              <a:rPr lang="fr-FR" smtClean="0"/>
              <a:t>‹N°›</a:t>
            </a:fld>
            <a:endParaRPr lang="fr-FR"/>
          </a:p>
        </p:txBody>
      </p:sp>
    </p:spTree>
    <p:extLst>
      <p:ext uri="{BB962C8B-B14F-4D97-AF65-F5344CB8AC3E}">
        <p14:creationId xmlns:p14="http://schemas.microsoft.com/office/powerpoint/2010/main" val="59641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9h00-9h03</a:t>
            </a:r>
          </a:p>
          <a:p>
            <a:pPr marL="0" lvl="0" indent="0" algn="l" rtl="0">
              <a:spcBef>
                <a:spcPts val="0"/>
              </a:spcBef>
              <a:spcAft>
                <a:spcPts val="0"/>
              </a:spcAft>
              <a:buNone/>
            </a:pPr>
            <a:r>
              <a:rPr lang="fr-FR" dirty="0"/>
              <a:t>Test de son</a:t>
            </a:r>
          </a:p>
          <a:p>
            <a:pPr marL="0" lvl="0" indent="0" algn="l" rtl="0">
              <a:spcBef>
                <a:spcPts val="0"/>
              </a:spcBef>
              <a:spcAft>
                <a:spcPts val="0"/>
              </a:spcAft>
              <a:buNone/>
            </a:pPr>
            <a:r>
              <a:rPr lang="fr-FR" dirty="0"/>
              <a:t>On est content de vous voir aujourd’hui</a:t>
            </a:r>
          </a:p>
          <a:p>
            <a:pPr marL="0" lvl="0" indent="0" algn="l" rtl="0">
              <a:spcBef>
                <a:spcPts val="0"/>
              </a:spcBef>
              <a:spcAft>
                <a:spcPts val="0"/>
              </a:spcAft>
              <a:buNone/>
            </a:pPr>
            <a:r>
              <a:rPr lang="fr-FR" dirty="0"/>
              <a:t>Vidéo conférence</a:t>
            </a:r>
          </a:p>
          <a:p>
            <a:pPr marL="0" lvl="0" indent="0" algn="l" rtl="0">
              <a:spcBef>
                <a:spcPts val="0"/>
              </a:spcBef>
              <a:spcAft>
                <a:spcPts val="0"/>
              </a:spcAft>
              <a:buNone/>
            </a:pPr>
            <a:r>
              <a:rPr lang="fr-FR" dirty="0"/>
              <a:t>enregistrée</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Attentes : Examens c’est la vraie vie</a:t>
            </a:r>
          </a:p>
          <a:p>
            <a:r>
              <a:rPr lang="fr-FR" dirty="0"/>
              <a:t>9h03-9h06</a:t>
            </a:r>
          </a:p>
          <a:p>
            <a:r>
              <a:rPr lang="fr-FR" dirty="0"/>
              <a:t>^Participation</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2</a:t>
            </a:fld>
            <a:endParaRPr lang="fr-FR"/>
          </a:p>
        </p:txBody>
      </p:sp>
    </p:spTree>
    <p:extLst>
      <p:ext uri="{BB962C8B-B14F-4D97-AF65-F5344CB8AC3E}">
        <p14:creationId xmlns:p14="http://schemas.microsoft.com/office/powerpoint/2010/main" val="1790169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9h03-9h04</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3</a:t>
            </a:fld>
            <a:endParaRPr lang="fr-FR"/>
          </a:p>
        </p:txBody>
      </p:sp>
    </p:spTree>
    <p:extLst>
      <p:ext uri="{BB962C8B-B14F-4D97-AF65-F5344CB8AC3E}">
        <p14:creationId xmlns:p14="http://schemas.microsoft.com/office/powerpoint/2010/main" val="1442038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9h03-9h04</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4</a:t>
            </a:fld>
            <a:endParaRPr lang="fr-FR"/>
          </a:p>
        </p:txBody>
      </p:sp>
    </p:spTree>
    <p:extLst>
      <p:ext uri="{BB962C8B-B14F-4D97-AF65-F5344CB8AC3E}">
        <p14:creationId xmlns:p14="http://schemas.microsoft.com/office/powerpoint/2010/main" val="1554624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5</a:t>
            </a:fld>
            <a:endParaRPr lang="fr-FR"/>
          </a:p>
        </p:txBody>
      </p:sp>
    </p:spTree>
    <p:extLst>
      <p:ext uri="{BB962C8B-B14F-4D97-AF65-F5344CB8AC3E}">
        <p14:creationId xmlns:p14="http://schemas.microsoft.com/office/powerpoint/2010/main" val="3124640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6</a:t>
            </a:fld>
            <a:endParaRPr lang="fr-FR"/>
          </a:p>
        </p:txBody>
      </p:sp>
    </p:spTree>
    <p:extLst>
      <p:ext uri="{BB962C8B-B14F-4D97-AF65-F5344CB8AC3E}">
        <p14:creationId xmlns:p14="http://schemas.microsoft.com/office/powerpoint/2010/main" val="323865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7</a:t>
            </a:fld>
            <a:endParaRPr lang="fr-FR"/>
          </a:p>
        </p:txBody>
      </p:sp>
    </p:spTree>
    <p:extLst>
      <p:ext uri="{BB962C8B-B14F-4D97-AF65-F5344CB8AC3E}">
        <p14:creationId xmlns:p14="http://schemas.microsoft.com/office/powerpoint/2010/main" val="231902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8</a:t>
            </a:fld>
            <a:endParaRPr lang="fr-FR"/>
          </a:p>
        </p:txBody>
      </p:sp>
    </p:spTree>
    <p:extLst>
      <p:ext uri="{BB962C8B-B14F-4D97-AF65-F5344CB8AC3E}">
        <p14:creationId xmlns:p14="http://schemas.microsoft.com/office/powerpoint/2010/main" val="2049324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DAS déduction a la source</a:t>
            </a:r>
          </a:p>
          <a:p>
            <a:r>
              <a:rPr lang="fr-FR" dirty="0"/>
              <a:t>Fond service de santé</a:t>
            </a:r>
          </a:p>
          <a:p>
            <a:r>
              <a:rPr lang="fr-FR" dirty="0"/>
              <a:t>Régime québécois d’assurance parentale</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9</a:t>
            </a:fld>
            <a:endParaRPr lang="fr-FR"/>
          </a:p>
        </p:txBody>
      </p:sp>
    </p:spTree>
    <p:extLst>
      <p:ext uri="{BB962C8B-B14F-4D97-AF65-F5344CB8AC3E}">
        <p14:creationId xmlns:p14="http://schemas.microsoft.com/office/powerpoint/2010/main" val="836256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Fond service de santé</a:t>
            </a:r>
          </a:p>
          <a:p>
            <a:r>
              <a:rPr lang="fr-FR" dirty="0"/>
              <a:t>Régime québécois d’assurance parentale</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10</a:t>
            </a:fld>
            <a:endParaRPr lang="fr-FR"/>
          </a:p>
        </p:txBody>
      </p:sp>
    </p:spTree>
    <p:extLst>
      <p:ext uri="{BB962C8B-B14F-4D97-AF65-F5344CB8AC3E}">
        <p14:creationId xmlns:p14="http://schemas.microsoft.com/office/powerpoint/2010/main" val="1803031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Fond service de santé</a:t>
            </a:r>
          </a:p>
          <a:p>
            <a:r>
              <a:rPr lang="fr-FR" dirty="0"/>
              <a:t>Régime québécois d’assurance parentale</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11</a:t>
            </a:fld>
            <a:endParaRPr lang="fr-FR"/>
          </a:p>
        </p:txBody>
      </p:sp>
    </p:spTree>
    <p:extLst>
      <p:ext uri="{BB962C8B-B14F-4D97-AF65-F5344CB8AC3E}">
        <p14:creationId xmlns:p14="http://schemas.microsoft.com/office/powerpoint/2010/main" val="2887834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12</a:t>
            </a:fld>
            <a:endParaRPr lang="fr-FR"/>
          </a:p>
        </p:txBody>
      </p:sp>
    </p:spTree>
    <p:extLst>
      <p:ext uri="{BB962C8B-B14F-4D97-AF65-F5344CB8AC3E}">
        <p14:creationId xmlns:p14="http://schemas.microsoft.com/office/powerpoint/2010/main" val="3955722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13</a:t>
            </a:fld>
            <a:endParaRPr lang="fr-FR"/>
          </a:p>
        </p:txBody>
      </p:sp>
    </p:spTree>
    <p:extLst>
      <p:ext uri="{BB962C8B-B14F-4D97-AF65-F5344CB8AC3E}">
        <p14:creationId xmlns:p14="http://schemas.microsoft.com/office/powerpoint/2010/main" val="719467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14</a:t>
            </a:fld>
            <a:endParaRPr lang="fr-FR"/>
          </a:p>
        </p:txBody>
      </p:sp>
    </p:spTree>
    <p:extLst>
      <p:ext uri="{BB962C8B-B14F-4D97-AF65-F5344CB8AC3E}">
        <p14:creationId xmlns:p14="http://schemas.microsoft.com/office/powerpoint/2010/main" val="3174441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15</a:t>
            </a:fld>
            <a:endParaRPr lang="fr-FR"/>
          </a:p>
        </p:txBody>
      </p:sp>
    </p:spTree>
    <p:extLst>
      <p:ext uri="{BB962C8B-B14F-4D97-AF65-F5344CB8AC3E}">
        <p14:creationId xmlns:p14="http://schemas.microsoft.com/office/powerpoint/2010/main" val="2794604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16</a:t>
            </a:fld>
            <a:endParaRPr lang="fr-FR"/>
          </a:p>
        </p:txBody>
      </p:sp>
    </p:spTree>
    <p:extLst>
      <p:ext uri="{BB962C8B-B14F-4D97-AF65-F5344CB8AC3E}">
        <p14:creationId xmlns:p14="http://schemas.microsoft.com/office/powerpoint/2010/main" val="3474552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17</a:t>
            </a:fld>
            <a:endParaRPr lang="fr-FR"/>
          </a:p>
        </p:txBody>
      </p:sp>
    </p:spTree>
    <p:extLst>
      <p:ext uri="{BB962C8B-B14F-4D97-AF65-F5344CB8AC3E}">
        <p14:creationId xmlns:p14="http://schemas.microsoft.com/office/powerpoint/2010/main" val="3854049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10 minutes </a:t>
            </a:r>
          </a:p>
        </p:txBody>
      </p:sp>
      <p:sp>
        <p:nvSpPr>
          <p:cNvPr id="4" name="Espace réservé du numéro de diapositive 3"/>
          <p:cNvSpPr>
            <a:spLocks noGrp="1"/>
          </p:cNvSpPr>
          <p:nvPr>
            <p:ph type="sldNum" sz="quarter" idx="5"/>
          </p:nvPr>
        </p:nvSpPr>
        <p:spPr/>
        <p:txBody>
          <a:bodyPr/>
          <a:lstStyle/>
          <a:p>
            <a:fld id="{39604897-F325-4FB4-8EB2-8C4838167ADA}" type="slidenum">
              <a:rPr lang="fr-FR" smtClean="0"/>
              <a:t>18</a:t>
            </a:fld>
            <a:endParaRPr lang="fr-FR"/>
          </a:p>
        </p:txBody>
      </p:sp>
    </p:spTree>
    <p:extLst>
      <p:ext uri="{BB962C8B-B14F-4D97-AF65-F5344CB8AC3E}">
        <p14:creationId xmlns:p14="http://schemas.microsoft.com/office/powerpoint/2010/main" val="4026312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eaLnBrk="1" hangingPunct="1">
              <a:spcBef>
                <a:spcPct val="0"/>
              </a:spcBef>
            </a:pPr>
            <a:r>
              <a:rPr lang="en-US" altLang="fr-FR" dirty="0"/>
              <a:t>Franchisees really need to know enough about paint to sell a job at this point, we are only going to be going over basics so they can demonstrate competence</a:t>
            </a: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6623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eaLnBrk="1" hangingPunct="1">
              <a:spcBef>
                <a:spcPct val="0"/>
              </a:spcBef>
            </a:pPr>
            <a:r>
              <a:rPr lang="en-US" altLang="fr-FR" dirty="0"/>
              <a:t>Franchisees really need to know enough about paint to sell a job at this point, we are only going to be going over basics so they can demonstrate competence</a:t>
            </a: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07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eaLnBrk="1" hangingPunct="1">
              <a:spcBef>
                <a:spcPct val="0"/>
              </a:spcBef>
            </a:pPr>
            <a:r>
              <a:rPr lang="en-US" altLang="fr-FR" dirty="0"/>
              <a:t>Franchisees really need to know enough about paint to sell a job at this point, we are only going to be going over basics so they can demonstrate competence</a:t>
            </a: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1870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727E0E-8D65-4477-BBAF-F1CD2EE5BAA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5A70B72-11C7-4EB0-9B4B-3EC9A16D5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C02EE0C-A6DC-4381-8E5B-8D909E5C89EF}"/>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1909B195-BC3D-41F5-9CCB-D9C432F7CF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3E2895A-5DFF-4D7A-A6DB-D79BD2A5E4CD}"/>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168102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E39219-0724-4709-893C-190EE7E1A6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4D91825-742B-4052-8D5C-9865B9C2450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6294CA8-A8A6-4864-BC9F-88CA693F7182}"/>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F0240038-9F9D-40C1-97ED-770F885DAD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A3FC51-44CF-4679-9CD1-4E85A3A2C9F2}"/>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3249100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69FA73-0456-4350-B737-C6E2221AA58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2642554-A5D5-42B0-8E66-169875008B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38BB90D-B16A-4F35-A881-60BBEFF869BB}"/>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DF0A4D60-7ECA-464B-B3C2-F232C77EBD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09F4374-ACD8-42F2-BB69-C2FD361FD1DA}"/>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3717873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5D213B-0DDF-4668-B2CC-F488A476D02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C0A880-444D-4EC4-A3B5-71EB2B4DC24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4E0D484-2F41-40A1-A54E-BD15C7AACC2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A57F515-12B3-4169-9BBD-7E764987BAA0}"/>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6" name="Espace réservé du pied de page 5">
            <a:extLst>
              <a:ext uri="{FF2B5EF4-FFF2-40B4-BE49-F238E27FC236}">
                <a16:creationId xmlns:a16="http://schemas.microsoft.com/office/drawing/2014/main" id="{32589B58-EDEE-4D2B-905E-582D1EBDFBC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7B29BD4-242C-40B8-8BFC-1A3FE8558250}"/>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1287850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F9F4FB-D56D-4E9A-B922-89829576B65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5ED4B0E-8A67-49FD-B528-438186510F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90AB6D2-4B8F-411C-8980-1C2D160D59B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FEB6EDD-5D64-4BC0-AC8D-423CE7EB1B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016ED7E-8760-457B-BF92-F27759F9C86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E5DCC05-43CE-451C-BD82-8E8C0902A66F}"/>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8" name="Espace réservé du pied de page 7">
            <a:extLst>
              <a:ext uri="{FF2B5EF4-FFF2-40B4-BE49-F238E27FC236}">
                <a16:creationId xmlns:a16="http://schemas.microsoft.com/office/drawing/2014/main" id="{57F759A8-0048-4310-B10B-65539CD73B8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85B5188-FD37-48D4-92E8-719D6D7DA43D}"/>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723316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532D48-143F-426E-B767-7642BAFB6DA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3953124-7342-4AB8-BB7C-13D7801B6895}"/>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4" name="Espace réservé du pied de page 3">
            <a:extLst>
              <a:ext uri="{FF2B5EF4-FFF2-40B4-BE49-F238E27FC236}">
                <a16:creationId xmlns:a16="http://schemas.microsoft.com/office/drawing/2014/main" id="{66CF6D72-1CD5-479C-A6EF-70EA58A5F9C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F95C7EE-9C00-4848-A53F-D5EFE7DAEE2E}"/>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3018022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E54508D-22ED-441A-9396-3D940AFF989B}"/>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3" name="Espace réservé du pied de page 2">
            <a:extLst>
              <a:ext uri="{FF2B5EF4-FFF2-40B4-BE49-F238E27FC236}">
                <a16:creationId xmlns:a16="http://schemas.microsoft.com/office/drawing/2014/main" id="{7D61FB4B-FAC4-47F3-BB53-9A00F3C2B5B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DFC2CAE-670B-4A63-BABB-37912E40EE04}"/>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2409249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D028A2-42F5-434E-8165-0B42C46169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EBC437B-4B41-4AEF-9370-7F1F06A4A5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52BC022-084E-4276-A63E-A758E708C8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C56C982-51A2-4595-9E27-653D1FB1E17C}"/>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6" name="Espace réservé du pied de page 5">
            <a:extLst>
              <a:ext uri="{FF2B5EF4-FFF2-40B4-BE49-F238E27FC236}">
                <a16:creationId xmlns:a16="http://schemas.microsoft.com/office/drawing/2014/main" id="{92F50774-C074-4C5C-828A-B8CDAB7BE2B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8EE59A6-657D-4E3F-B813-67C3591E278A}"/>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2398414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182C77-07B4-485A-BE2C-BE7C72E13E8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D544168-4414-47B9-90F5-9AE32607E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8207A4-F793-4403-A0A0-789B7177A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2669591-DD81-42A1-9872-08FE71140E34}"/>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6" name="Espace réservé du pied de page 5">
            <a:extLst>
              <a:ext uri="{FF2B5EF4-FFF2-40B4-BE49-F238E27FC236}">
                <a16:creationId xmlns:a16="http://schemas.microsoft.com/office/drawing/2014/main" id="{44ABF840-4D1D-4171-A1D2-15BBD17BAE9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4E029C8-5FDD-4EC4-9589-324D62A96302}"/>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62090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E30AC8-C360-4082-B979-D8CAFBF5A5B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396178D-593B-464D-A737-0EFB4EEECDD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0C5D3E-D683-43E2-A2B8-297733ACAB1E}"/>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18721368-1B08-4934-A9D7-A2C4AA703A7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0EF9B7-529B-4C98-9C57-1C200398CDA1}"/>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2254779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C6AA973-87B4-4E59-BB95-55C04846AB2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5B8291E-9C02-4501-AE7B-B5C333FB855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DDF216-1636-4F87-A1E7-2168187449B5}"/>
              </a:ext>
            </a:extLst>
          </p:cNvPr>
          <p:cNvSpPr>
            <a:spLocks noGrp="1"/>
          </p:cNvSpPr>
          <p:nvPr>
            <p:ph type="dt" sz="half" idx="10"/>
          </p:nvPr>
        </p:nvSpPr>
        <p:spPr/>
        <p:txBody>
          <a:body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2CB65686-2764-4490-A0B1-F7B8905BD97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3BAAE1E-4B0E-4538-8021-8A7188530C6A}"/>
              </a:ext>
            </a:extLst>
          </p:cNvPr>
          <p:cNvSpPr>
            <a:spLocks noGrp="1"/>
          </p:cNvSpPr>
          <p:nvPr>
            <p:ph type="sldNum" sz="quarter" idx="12"/>
          </p:nvPr>
        </p:nvSpPr>
        <p:spPr/>
        <p:txBody>
          <a:bodyPr/>
          <a:lstStyle/>
          <a:p>
            <a:fld id="{14D6D5A0-CB7B-47E9-8001-BA3E4557F2C3}" type="slidenum">
              <a:rPr lang="fr-FR" smtClean="0"/>
              <a:t>‹N°›</a:t>
            </a:fld>
            <a:endParaRPr lang="fr-FR"/>
          </a:p>
        </p:txBody>
      </p:sp>
    </p:spTree>
    <p:extLst>
      <p:ext uri="{BB962C8B-B14F-4D97-AF65-F5344CB8AC3E}">
        <p14:creationId xmlns:p14="http://schemas.microsoft.com/office/powerpoint/2010/main" val="113830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67AD186-C956-42B7-922D-6334465CF1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8F625AD-2BAA-44D5-9729-6E8B5823E7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38C1030-6EF3-490A-A03B-4C77D6031A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AA22FD-FA6B-49A2-A59B-A5AC7D516915}" type="datetimeFigureOut">
              <a:rPr lang="fr-FR" smtClean="0"/>
              <a:t>21/01/2021</a:t>
            </a:fld>
            <a:endParaRPr lang="fr-FR"/>
          </a:p>
        </p:txBody>
      </p:sp>
      <p:sp>
        <p:nvSpPr>
          <p:cNvPr id="5" name="Espace réservé du pied de page 4">
            <a:extLst>
              <a:ext uri="{FF2B5EF4-FFF2-40B4-BE49-F238E27FC236}">
                <a16:creationId xmlns:a16="http://schemas.microsoft.com/office/drawing/2014/main" id="{37B703A2-276E-48D6-A63B-1E6900C513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6BE55CD-D40B-41A6-9612-5228543435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6D5A0-CB7B-47E9-8001-BA3E4557F2C3}" type="slidenum">
              <a:rPr lang="fr-FR" smtClean="0"/>
              <a:t>‹N°›</a:t>
            </a:fld>
            <a:endParaRPr lang="fr-FR"/>
          </a:p>
        </p:txBody>
      </p:sp>
    </p:spTree>
    <p:extLst>
      <p:ext uri="{BB962C8B-B14F-4D97-AF65-F5344CB8AC3E}">
        <p14:creationId xmlns:p14="http://schemas.microsoft.com/office/powerpoint/2010/main" val="2116062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fr.wikipedia.org/wiki/Arbitre_sportif"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pixabay.com/fr/cible-dart-objectif-succ%C3%A8s-1414775/"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www.thebluediamondgallery.com/wooden-tile/p/plan.html" TargetMode="Externa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fr.wikipedia.org/wiki/Flamant_rose"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www.progressive-charlestown.com/2011/12/questions-answers-on-homestead-tax.html" TargetMode="Externa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hyperlink" Target="http://www.progressive-charlestown.com/2011/12/questions-answers-on-homestead-tax.html" TargetMode="Externa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www.progressive-charlestown.com/2011/12/questions-answers-on-homestead-tax.html" TargetMode="Externa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2.pn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0878792" y="0"/>
            <a:ext cx="1313209" cy="5461000"/>
          </a:xfrm>
          <a:prstGeom prst="rect">
            <a:avLst/>
          </a:prstGeom>
          <a:solidFill>
            <a:srgbClr val="FF0000"/>
          </a:solidFill>
          <a:ln>
            <a:noFill/>
          </a:ln>
        </p:spPr>
        <p:txBody>
          <a:bodyPr spcFirstLastPara="1" wrap="square" lIns="60950" tIns="60950" rIns="60950" bIns="60950" anchor="ctr" anchorCtr="0">
            <a:noAutofit/>
          </a:bodyPr>
          <a:lstStyle/>
          <a:p>
            <a:endParaRPr sz="1200"/>
          </a:p>
        </p:txBody>
      </p:sp>
      <p:sp>
        <p:nvSpPr>
          <p:cNvPr id="85" name="Google Shape;85;p1"/>
          <p:cNvSpPr/>
          <p:nvPr/>
        </p:nvSpPr>
        <p:spPr>
          <a:xfrm>
            <a:off x="304800" y="-3302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86" name="Google Shape;86;p1"/>
          <p:cNvSpPr/>
          <p:nvPr/>
        </p:nvSpPr>
        <p:spPr>
          <a:xfrm>
            <a:off x="-38100" y="2755900"/>
            <a:ext cx="685800" cy="4673600"/>
          </a:xfrm>
          <a:prstGeom prst="rect">
            <a:avLst/>
          </a:prstGeom>
          <a:solidFill>
            <a:srgbClr val="FF0000"/>
          </a:solidFill>
          <a:ln>
            <a:noFill/>
          </a:ln>
        </p:spPr>
        <p:txBody>
          <a:bodyPr spcFirstLastPara="1" wrap="square" lIns="60950" tIns="60950" rIns="60950" bIns="60950" anchor="ctr" anchorCtr="0">
            <a:noAutofit/>
          </a:bodyPr>
          <a:lstStyle/>
          <a:p>
            <a:endParaRPr sz="1200"/>
          </a:p>
        </p:txBody>
      </p:sp>
      <p:grpSp>
        <p:nvGrpSpPr>
          <p:cNvPr id="87" name="Google Shape;87;p1"/>
          <p:cNvGrpSpPr/>
          <p:nvPr/>
        </p:nvGrpSpPr>
        <p:grpSpPr>
          <a:xfrm>
            <a:off x="1370770" y="3799007"/>
            <a:ext cx="9190522" cy="2410294"/>
            <a:chOff x="-126056" y="543588"/>
            <a:chExt cx="18381043" cy="4820587"/>
          </a:xfrm>
        </p:grpSpPr>
        <p:sp>
          <p:nvSpPr>
            <p:cNvPr id="88" name="Google Shape;88;p1"/>
            <p:cNvSpPr txBox="1"/>
            <p:nvPr/>
          </p:nvSpPr>
          <p:spPr>
            <a:xfrm>
              <a:off x="-126056" y="543588"/>
              <a:ext cx="18381043" cy="3323985"/>
            </a:xfrm>
            <a:prstGeom prst="rect">
              <a:avLst/>
            </a:prstGeom>
            <a:noFill/>
            <a:ln>
              <a:noFill/>
            </a:ln>
          </p:spPr>
          <p:txBody>
            <a:bodyPr spcFirstLastPara="1" wrap="square" lIns="0" tIns="0" rIns="0" bIns="0" anchor="t" anchorCtr="0">
              <a:spAutoFit/>
            </a:bodyPr>
            <a:lstStyle/>
            <a:p>
              <a:r>
                <a:rPr lang="en-US" sz="5400" b="1" dirty="0">
                  <a:solidFill>
                    <a:srgbClr val="202020"/>
                  </a:solidFill>
                  <a:latin typeface="Montserrat"/>
                  <a:ea typeface="Montserrat"/>
                  <a:cs typeface="Montserrat"/>
                  <a:sym typeface="Montserrat"/>
                </a:rPr>
                <a:t>JOUR 5 :</a:t>
              </a:r>
            </a:p>
            <a:p>
              <a:r>
                <a:rPr lang="en-US" sz="5400" b="1" dirty="0" err="1">
                  <a:solidFill>
                    <a:srgbClr val="202020"/>
                  </a:solidFill>
                  <a:latin typeface="Montserrat"/>
                  <a:ea typeface="Montserrat"/>
                  <a:cs typeface="Montserrat"/>
                  <a:sym typeface="Montserrat"/>
                </a:rPr>
                <a:t>Comptabilité</a:t>
              </a:r>
              <a:endParaRPr lang="en-US" sz="5400" b="1" dirty="0">
                <a:solidFill>
                  <a:srgbClr val="202020"/>
                </a:solidFill>
                <a:latin typeface="Montserrat"/>
                <a:ea typeface="Montserrat"/>
                <a:cs typeface="Montserrat"/>
                <a:sym typeface="Montserrat"/>
              </a:endParaRPr>
            </a:p>
          </p:txBody>
        </p:sp>
        <p:sp>
          <p:nvSpPr>
            <p:cNvPr id="89" name="Google Shape;89;p1"/>
            <p:cNvSpPr txBox="1"/>
            <p:nvPr/>
          </p:nvSpPr>
          <p:spPr>
            <a:xfrm>
              <a:off x="0" y="4559723"/>
              <a:ext cx="12133677" cy="804452"/>
            </a:xfrm>
            <a:prstGeom prst="rect">
              <a:avLst/>
            </a:prstGeom>
            <a:noFill/>
            <a:ln>
              <a:noFill/>
            </a:ln>
          </p:spPr>
          <p:txBody>
            <a:bodyPr spcFirstLastPara="1" wrap="square" lIns="0" tIns="0" rIns="0" bIns="0" anchor="t" anchorCtr="0">
              <a:spAutoFit/>
            </a:bodyPr>
            <a:lstStyle/>
            <a:p>
              <a:pPr>
                <a:lnSpc>
                  <a:spcPct val="139964"/>
                </a:lnSpc>
              </a:pPr>
              <a:r>
                <a:rPr lang="en-US" sz="1867">
                  <a:solidFill>
                    <a:srgbClr val="202020"/>
                  </a:solidFill>
                  <a:latin typeface="Montserrat"/>
                  <a:ea typeface="Montserrat"/>
                  <a:cs typeface="Montserrat"/>
                  <a:sym typeface="Montserrat"/>
                </a:rPr>
                <a:t>FORMATIONS 2021</a:t>
              </a:r>
              <a:endParaRPr sz="1200"/>
            </a:p>
          </p:txBody>
        </p:sp>
      </p:grpSp>
      <p:pic>
        <p:nvPicPr>
          <p:cNvPr id="90" name="Google Shape;90;p1"/>
          <p:cNvPicPr preferRelativeResize="0"/>
          <p:nvPr/>
        </p:nvPicPr>
        <p:blipFill>
          <a:blip r:embed="rId3">
            <a:alphaModFix/>
          </a:blip>
          <a:stretch>
            <a:fillRect/>
          </a:stretch>
        </p:blipFill>
        <p:spPr>
          <a:xfrm>
            <a:off x="8424920" y="213600"/>
            <a:ext cx="2199400" cy="219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929058" y="505147"/>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RÈGLES POUR LES FORMATIONS</a:t>
            </a:r>
          </a:p>
        </p:txBody>
      </p:sp>
      <p:sp>
        <p:nvSpPr>
          <p:cNvPr id="5" name="ZoneTexte 4">
            <a:extLst>
              <a:ext uri="{FF2B5EF4-FFF2-40B4-BE49-F238E27FC236}">
                <a16:creationId xmlns:a16="http://schemas.microsoft.com/office/drawing/2014/main" id="{4F44EBFD-4CFA-4308-AF82-C32A3E9185E7}"/>
              </a:ext>
            </a:extLst>
          </p:cNvPr>
          <p:cNvSpPr txBox="1"/>
          <p:nvPr/>
        </p:nvSpPr>
        <p:spPr>
          <a:xfrm>
            <a:off x="2167183" y="2311691"/>
            <a:ext cx="7583648" cy="4801314"/>
          </a:xfrm>
          <a:prstGeom prst="rect">
            <a:avLst/>
          </a:prstGeom>
          <a:noFill/>
        </p:spPr>
        <p:txBody>
          <a:bodyPr wrap="square" rtlCol="0">
            <a:spAutoFit/>
          </a:bodyPr>
          <a:lstStyle/>
          <a:p>
            <a:pPr marL="285750" indent="-285750" eaLnBrk="1" hangingPunct="1">
              <a:buFont typeface="Arial" panose="020B0604020202020204" pitchFamily="34" charset="0"/>
              <a:buChar char="•"/>
              <a:defRPr/>
            </a:pPr>
            <a:r>
              <a:rPr lang="fr-CA" sz="2400" dirty="0"/>
              <a:t>Lever la main pour poser une question (appuyer sur le bouton)</a:t>
            </a:r>
          </a:p>
          <a:p>
            <a:pPr marL="285750" indent="-285750">
              <a:buFont typeface="Arial" panose="020B0604020202020204" pitchFamily="34" charset="0"/>
              <a:buChar char="•"/>
              <a:defRPr/>
            </a:pPr>
            <a:r>
              <a:rPr lang="fr-CA" sz="2400" dirty="0"/>
              <a:t>Coupez le son mais gardez l’écran</a:t>
            </a:r>
          </a:p>
          <a:p>
            <a:pPr marL="285750" indent="-285750" eaLnBrk="1" hangingPunct="1">
              <a:buFont typeface="Arial" panose="020B0604020202020204" pitchFamily="34" charset="0"/>
              <a:buChar char="•"/>
              <a:defRPr/>
            </a:pPr>
            <a:endParaRPr lang="fr-CA" sz="2400" dirty="0"/>
          </a:p>
          <a:p>
            <a:pPr marL="285750" indent="-285750" eaLnBrk="1" hangingPunct="1">
              <a:buFont typeface="Arial" panose="020B0604020202020204" pitchFamily="34" charset="0"/>
              <a:buChar char="•"/>
              <a:defRPr/>
            </a:pPr>
            <a:r>
              <a:rPr lang="fr-CA" sz="2400" dirty="0"/>
              <a:t>Pauses et toilettes</a:t>
            </a:r>
          </a:p>
          <a:p>
            <a:pPr marL="285750" indent="-285750" eaLnBrk="1" hangingPunct="1">
              <a:buFont typeface="Arial" panose="020B0604020202020204" pitchFamily="34" charset="0"/>
              <a:buChar char="•"/>
              <a:defRPr/>
            </a:pPr>
            <a:r>
              <a:rPr lang="fr-CA" sz="2400" dirty="0"/>
              <a:t>Cellulaire</a:t>
            </a:r>
          </a:p>
          <a:p>
            <a:pPr marL="285750" indent="-285750" eaLnBrk="1" hangingPunct="1">
              <a:buFont typeface="Arial" panose="020B0604020202020204" pitchFamily="34" charset="0"/>
              <a:buChar char="•"/>
              <a:defRPr/>
            </a:pPr>
            <a:r>
              <a:rPr lang="fr-CA" sz="2400" dirty="0"/>
              <a:t>Prendre des notes</a:t>
            </a:r>
          </a:p>
          <a:p>
            <a:pPr marL="285750" indent="-285750" eaLnBrk="1" hangingPunct="1">
              <a:buFont typeface="Arial" panose="020B0604020202020204" pitchFamily="34" charset="0"/>
              <a:buChar char="•"/>
              <a:defRPr/>
            </a:pPr>
            <a:r>
              <a:rPr lang="fr-CA" sz="2400" dirty="0"/>
              <a:t>Participation </a:t>
            </a:r>
          </a:p>
          <a:p>
            <a:pPr marL="285750" indent="-285750" eaLnBrk="1" hangingPunct="1">
              <a:buFont typeface="Arial" panose="020B0604020202020204" pitchFamily="34" charset="0"/>
              <a:buChar char="•"/>
              <a:defRPr/>
            </a:pPr>
            <a:r>
              <a:rPr lang="fr-CA" sz="2400" dirty="0"/>
              <a:t>Attentes </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fr-FR" dirty="0"/>
          </a:p>
          <a:p>
            <a:endParaRPr lang="fr-FR" dirty="0"/>
          </a:p>
          <a:p>
            <a:endParaRPr lang="fr-FR" dirty="0"/>
          </a:p>
        </p:txBody>
      </p:sp>
      <p:sp>
        <p:nvSpPr>
          <p:cNvPr id="6" name="Google Shape;95;p2">
            <a:extLst>
              <a:ext uri="{FF2B5EF4-FFF2-40B4-BE49-F238E27FC236}">
                <a16:creationId xmlns:a16="http://schemas.microsoft.com/office/drawing/2014/main" id="{DA1AFDFC-0DD5-4A45-9DEB-153447216FC5}"/>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83EFC0E0-0ECF-412A-B1FA-67DF5B0EC872}"/>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2D9ACCD5-9E25-4300-86D4-4F0762299F1B}"/>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pic>
        <p:nvPicPr>
          <p:cNvPr id="9" name="Image 8" descr="Une image contenant extérieur, personne, rayé&#10;&#10;Description générée automatiquement">
            <a:extLst>
              <a:ext uri="{FF2B5EF4-FFF2-40B4-BE49-F238E27FC236}">
                <a16:creationId xmlns:a16="http://schemas.microsoft.com/office/drawing/2014/main" id="{00242B11-56F4-45C2-95CA-A3844175BFE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176739" y="3505200"/>
            <a:ext cx="1910184" cy="2552700"/>
          </a:xfrm>
          <a:prstGeom prst="rect">
            <a:avLst/>
          </a:prstGeom>
        </p:spPr>
      </p:pic>
    </p:spTree>
    <p:extLst>
      <p:ext uri="{BB962C8B-B14F-4D97-AF65-F5344CB8AC3E}">
        <p14:creationId xmlns:p14="http://schemas.microsoft.com/office/powerpoint/2010/main" val="272555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929058" y="559070"/>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OBJECTIFS DE LA JOURNÉE</a:t>
            </a:r>
          </a:p>
        </p:txBody>
      </p:sp>
      <p:sp>
        <p:nvSpPr>
          <p:cNvPr id="5" name="ZoneTexte 4">
            <a:extLst>
              <a:ext uri="{FF2B5EF4-FFF2-40B4-BE49-F238E27FC236}">
                <a16:creationId xmlns:a16="http://schemas.microsoft.com/office/drawing/2014/main" id="{4F44EBFD-4CFA-4308-AF82-C32A3E9185E7}"/>
              </a:ext>
            </a:extLst>
          </p:cNvPr>
          <p:cNvSpPr txBox="1"/>
          <p:nvPr/>
        </p:nvSpPr>
        <p:spPr>
          <a:xfrm>
            <a:off x="1929058" y="2286026"/>
            <a:ext cx="7583648" cy="4893647"/>
          </a:xfrm>
          <a:prstGeom prst="rect">
            <a:avLst/>
          </a:prstGeom>
          <a:noFill/>
        </p:spPr>
        <p:txBody>
          <a:bodyPr wrap="square" rtlCol="0">
            <a:spAutoFit/>
          </a:bodyPr>
          <a:lstStyle/>
          <a:p>
            <a:pPr marL="285750" indent="-285750">
              <a:buFont typeface="Arial" panose="020B0604020202020204" pitchFamily="34" charset="0"/>
              <a:buChar char="•"/>
            </a:pPr>
            <a:r>
              <a:rPr lang="fr-FR" sz="2400" dirty="0"/>
              <a:t>Améliorer vos compétences en comptabilité</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Comprendre le fonctionnement de Quick books</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Comprendre le fonctionnement de Square</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Comprendre le RG</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Finaliser le plan Marketing</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endParaRPr lang="fr-FR" sz="2400" dirty="0"/>
          </a:p>
          <a:p>
            <a:endParaRPr lang="fr-FR" sz="2400" dirty="0"/>
          </a:p>
          <a:p>
            <a:endParaRPr lang="fr-FR" sz="2400" dirty="0"/>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pic>
        <p:nvPicPr>
          <p:cNvPr id="3" name="Image 2">
            <a:extLst>
              <a:ext uri="{FF2B5EF4-FFF2-40B4-BE49-F238E27FC236}">
                <a16:creationId xmlns:a16="http://schemas.microsoft.com/office/drawing/2014/main" id="{436BBA35-C900-4187-87E9-9D1BBAF1287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843864" y="3834881"/>
            <a:ext cx="2603241" cy="2603241"/>
          </a:xfrm>
          <a:prstGeom prst="rect">
            <a:avLst/>
          </a:prstGeom>
        </p:spPr>
      </p:pic>
    </p:spTree>
    <p:extLst>
      <p:ext uri="{BB962C8B-B14F-4D97-AF65-F5344CB8AC3E}">
        <p14:creationId xmlns:p14="http://schemas.microsoft.com/office/powerpoint/2010/main" val="4024296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929058" y="559070"/>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PLAN DE LA JOURNÉE</a:t>
            </a:r>
          </a:p>
        </p:txBody>
      </p:sp>
      <p:sp>
        <p:nvSpPr>
          <p:cNvPr id="5" name="ZoneTexte 4">
            <a:extLst>
              <a:ext uri="{FF2B5EF4-FFF2-40B4-BE49-F238E27FC236}">
                <a16:creationId xmlns:a16="http://schemas.microsoft.com/office/drawing/2014/main" id="{4F44EBFD-4CFA-4308-AF82-C32A3E9185E7}"/>
              </a:ext>
            </a:extLst>
          </p:cNvPr>
          <p:cNvSpPr txBox="1"/>
          <p:nvPr/>
        </p:nvSpPr>
        <p:spPr>
          <a:xfrm>
            <a:off x="1929058" y="2366348"/>
            <a:ext cx="7583648" cy="5632311"/>
          </a:xfrm>
          <a:prstGeom prst="rect">
            <a:avLst/>
          </a:prstGeom>
          <a:noFill/>
        </p:spPr>
        <p:txBody>
          <a:bodyPr wrap="square" rtlCol="0">
            <a:spAutoFit/>
          </a:bodyPr>
          <a:lstStyle/>
          <a:p>
            <a:r>
              <a:rPr lang="fr-FR" sz="2400" dirty="0"/>
              <a:t>9h00–9h15 Ouverture avec les nouveaux</a:t>
            </a:r>
          </a:p>
          <a:p>
            <a:r>
              <a:rPr lang="fr-FR" sz="2400" dirty="0"/>
              <a:t>9h15-9h45 Explication des taxes et DAS</a:t>
            </a:r>
          </a:p>
          <a:p>
            <a:r>
              <a:rPr lang="fr-FR" sz="2400" dirty="0"/>
              <a:t>9h45-10h00 Exercice Taxes</a:t>
            </a:r>
          </a:p>
          <a:p>
            <a:r>
              <a:rPr lang="fr-FR" sz="2400" dirty="0"/>
              <a:t>10h00-10h30 Quick book</a:t>
            </a:r>
          </a:p>
          <a:p>
            <a:endParaRPr lang="fr-FR" sz="2400" dirty="0"/>
          </a:p>
          <a:p>
            <a:r>
              <a:rPr lang="fr-FR" sz="2400" dirty="0"/>
              <a:t>10h30-10h40 Pause</a:t>
            </a:r>
          </a:p>
          <a:p>
            <a:endParaRPr lang="fr-FR" sz="2400" dirty="0"/>
          </a:p>
          <a:p>
            <a:r>
              <a:rPr lang="fr-FR" sz="2400" dirty="0"/>
              <a:t>10h40 – 11h15 RG</a:t>
            </a:r>
          </a:p>
          <a:p>
            <a:r>
              <a:rPr lang="fr-FR" sz="2400" dirty="0"/>
              <a:t>11h15-11h45 Square</a:t>
            </a:r>
          </a:p>
          <a:p>
            <a:r>
              <a:rPr lang="fr-FR" sz="2400" dirty="0"/>
              <a:t>11h45-12h00 Marketing</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endParaRPr lang="fr-FR" sz="2400" dirty="0"/>
          </a:p>
          <a:p>
            <a:endParaRPr lang="fr-FR" sz="2400" dirty="0"/>
          </a:p>
          <a:p>
            <a:endParaRPr lang="fr-FR" sz="2400" dirty="0"/>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pic>
        <p:nvPicPr>
          <p:cNvPr id="3" name="Image 2">
            <a:extLst>
              <a:ext uri="{FF2B5EF4-FFF2-40B4-BE49-F238E27FC236}">
                <a16:creationId xmlns:a16="http://schemas.microsoft.com/office/drawing/2014/main" id="{A08AE908-729D-438A-B195-09EFD5F33F2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266790" y="3751262"/>
            <a:ext cx="3321440" cy="2214293"/>
          </a:xfrm>
          <a:prstGeom prst="rect">
            <a:avLst/>
          </a:prstGeom>
        </p:spPr>
      </p:pic>
    </p:spTree>
    <p:extLst>
      <p:ext uri="{BB962C8B-B14F-4D97-AF65-F5344CB8AC3E}">
        <p14:creationId xmlns:p14="http://schemas.microsoft.com/office/powerpoint/2010/main" val="97749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 calcmode="lin" valueType="num">
                                      <p:cBhvr>
                                        <p:cTn id="14"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p:cTn id="21"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 calcmode="lin" valueType="num">
                                      <p:cBhvr>
                                        <p:cTn id="28"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 calcmode="lin" valueType="num">
                                      <p:cBhvr>
                                        <p:cTn id="35"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 calcmode="lin" valueType="num">
                                      <p:cBhvr>
                                        <p:cTn id="42" dur="500" fill="hold"/>
                                        <p:tgtEl>
                                          <p:spTgt spid="5">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5">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 calcmode="lin" valueType="num">
                                      <p:cBhvr>
                                        <p:cTn id="49"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5">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5">
                                            <p:txEl>
                                              <p:pRg st="9" end="9"/>
                                            </p:txEl>
                                          </p:spTgt>
                                        </p:tgtEl>
                                        <p:attrNameLst>
                                          <p:attrName>style.visibility</p:attrName>
                                        </p:attrNameLst>
                                      </p:cBhvr>
                                      <p:to>
                                        <p:strVal val="visible"/>
                                      </p:to>
                                    </p:set>
                                    <p:anim calcmode="lin" valueType="num">
                                      <p:cBhvr>
                                        <p:cTn id="56" dur="500" fill="hold"/>
                                        <p:tgtEl>
                                          <p:spTgt spid="5">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5">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OUVERTURE DES NOUVEAUX</a:t>
            </a:r>
          </a:p>
        </p:txBody>
      </p:sp>
      <p:sp>
        <p:nvSpPr>
          <p:cNvPr id="5" name="ZoneTexte 4">
            <a:extLst>
              <a:ext uri="{FF2B5EF4-FFF2-40B4-BE49-F238E27FC236}">
                <a16:creationId xmlns:a16="http://schemas.microsoft.com/office/drawing/2014/main" id="{4F44EBFD-4CFA-4308-AF82-C32A3E9185E7}"/>
              </a:ext>
            </a:extLst>
          </p:cNvPr>
          <p:cNvSpPr txBox="1"/>
          <p:nvPr/>
        </p:nvSpPr>
        <p:spPr>
          <a:xfrm>
            <a:off x="2005724" y="2333685"/>
            <a:ext cx="7583648" cy="5262979"/>
          </a:xfrm>
          <a:prstGeom prst="rect">
            <a:avLst/>
          </a:prstGeom>
          <a:noFill/>
        </p:spPr>
        <p:txBody>
          <a:bodyPr wrap="square" rtlCol="0">
            <a:spAutoFit/>
          </a:bodyPr>
          <a:lstStyle/>
          <a:p>
            <a:pPr fontAlgn="base"/>
            <a:r>
              <a:rPr lang="fr-FR" sz="2400" dirty="0"/>
              <a:t>Nom :</a:t>
            </a:r>
          </a:p>
          <a:p>
            <a:pPr fontAlgn="base"/>
            <a:endParaRPr lang="fr-FR" sz="2400" dirty="0"/>
          </a:p>
          <a:p>
            <a:pPr fontAlgn="base"/>
            <a:r>
              <a:rPr lang="fr-FR" sz="2400" dirty="0"/>
              <a:t>Qui êtes-vous :</a:t>
            </a:r>
          </a:p>
          <a:p>
            <a:pPr fontAlgn="base"/>
            <a:endParaRPr lang="fr-FR" sz="2400" dirty="0"/>
          </a:p>
          <a:p>
            <a:pPr fontAlgn="base"/>
            <a:r>
              <a:rPr lang="fr-FR" sz="2400" dirty="0"/>
              <a:t>Secteur :</a:t>
            </a:r>
          </a:p>
          <a:p>
            <a:pPr fontAlgn="base"/>
            <a:endParaRPr lang="fr-FR" sz="2400" dirty="0"/>
          </a:p>
          <a:p>
            <a:pPr fontAlgn="base"/>
            <a:r>
              <a:rPr lang="fr-FR" sz="2400" dirty="0"/>
              <a:t>L’animal qui vous représente :</a:t>
            </a:r>
          </a:p>
          <a:p>
            <a:pPr fontAlgn="base"/>
            <a:endParaRPr lang="fr-FR" sz="2400" dirty="0"/>
          </a:p>
          <a:p>
            <a:pPr fontAlgn="base"/>
            <a:r>
              <a:rPr lang="fr-FR" sz="2400" dirty="0"/>
              <a:t>WHY ?</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endParaRPr lang="fr-FR" sz="2400" dirty="0"/>
          </a:p>
          <a:p>
            <a:endParaRPr lang="fr-FR" sz="2400" dirty="0"/>
          </a:p>
          <a:p>
            <a:endParaRPr lang="fr-FR" sz="2400" dirty="0"/>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pic>
        <p:nvPicPr>
          <p:cNvPr id="3" name="Image 2" descr="Une image contenant extérieur, oiseau, oiseau aquatique, eau&#10;&#10;Description générée automatiquement">
            <a:extLst>
              <a:ext uri="{FF2B5EF4-FFF2-40B4-BE49-F238E27FC236}">
                <a16:creationId xmlns:a16="http://schemas.microsoft.com/office/drawing/2014/main" id="{A5F2C9D1-7F4D-4DF0-BAF1-36A512B54B5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116182" y="3325115"/>
            <a:ext cx="1984307" cy="2811101"/>
          </a:xfrm>
          <a:prstGeom prst="rect">
            <a:avLst/>
          </a:prstGeom>
        </p:spPr>
      </p:pic>
    </p:spTree>
    <p:extLst>
      <p:ext uri="{BB962C8B-B14F-4D97-AF65-F5344CB8AC3E}">
        <p14:creationId xmlns:p14="http://schemas.microsoft.com/office/powerpoint/2010/main" val="316643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 calcmode="lin" valueType="num">
                                      <p:cBhvr>
                                        <p:cTn id="14"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p:cTn id="21"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 calcmode="lin" valueType="num">
                                      <p:cBhvr>
                                        <p:cTn id="28" dur="500" fill="hold"/>
                                        <p:tgtEl>
                                          <p:spTgt spid="5">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 calcmode="lin" valueType="num">
                                      <p:cBhvr>
                                        <p:cTn id="35"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36" dur="5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3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TAXES et DAS</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8">
            <a:extLst>
              <a:ext uri="{FF2B5EF4-FFF2-40B4-BE49-F238E27FC236}">
                <a16:creationId xmlns:a16="http://schemas.microsoft.com/office/drawing/2014/main" id="{402D884B-DB02-4FE0-B817-1DD12EB4C49B}"/>
              </a:ext>
            </a:extLst>
          </p:cNvPr>
          <p:cNvGraphicFramePr>
            <a:graphicFrameLocks noGrp="1"/>
          </p:cNvGraphicFramePr>
          <p:nvPr>
            <p:extLst>
              <p:ext uri="{D42A27DB-BD31-4B8C-83A1-F6EECF244321}">
                <p14:modId xmlns:p14="http://schemas.microsoft.com/office/powerpoint/2010/main" val="1489618850"/>
              </p:ext>
            </p:extLst>
          </p:nvPr>
        </p:nvGraphicFramePr>
        <p:xfrm>
          <a:off x="3540644" y="2781326"/>
          <a:ext cx="5598920" cy="1854200"/>
        </p:xfrm>
        <a:graphic>
          <a:graphicData uri="http://schemas.openxmlformats.org/drawingml/2006/table">
            <a:tbl>
              <a:tblPr firstRow="1" bandRow="1">
                <a:tableStyleId>{5C22544A-7EE6-4342-B048-85BDC9FD1C3A}</a:tableStyleId>
              </a:tblPr>
              <a:tblGrid>
                <a:gridCol w="2799460">
                  <a:extLst>
                    <a:ext uri="{9D8B030D-6E8A-4147-A177-3AD203B41FA5}">
                      <a16:colId xmlns:a16="http://schemas.microsoft.com/office/drawing/2014/main" val="840441273"/>
                    </a:ext>
                  </a:extLst>
                </a:gridCol>
                <a:gridCol w="2799460">
                  <a:extLst>
                    <a:ext uri="{9D8B030D-6E8A-4147-A177-3AD203B41FA5}">
                      <a16:colId xmlns:a16="http://schemas.microsoft.com/office/drawing/2014/main" val="1979398024"/>
                    </a:ext>
                  </a:extLst>
                </a:gridCol>
              </a:tblGrid>
              <a:tr h="370840">
                <a:tc>
                  <a:txBody>
                    <a:bodyPr/>
                    <a:lstStyle/>
                    <a:p>
                      <a:pPr algn="ctr"/>
                      <a:r>
                        <a:rPr lang="fr-FR" dirty="0"/>
                        <a:t>TAXES</a:t>
                      </a:r>
                    </a:p>
                  </a:txBody>
                  <a:tcPr>
                    <a:solidFill>
                      <a:srgbClr val="FF0000"/>
                    </a:solidFill>
                  </a:tcPr>
                </a:tc>
                <a:tc>
                  <a:txBody>
                    <a:bodyPr/>
                    <a:lstStyle/>
                    <a:p>
                      <a:pPr algn="ctr"/>
                      <a:r>
                        <a:rPr lang="fr-FR" dirty="0"/>
                        <a:t>DAS</a:t>
                      </a:r>
                    </a:p>
                  </a:txBody>
                  <a:tcPr>
                    <a:solidFill>
                      <a:srgbClr val="FF0000"/>
                    </a:solidFill>
                  </a:tcPr>
                </a:tc>
                <a:extLst>
                  <a:ext uri="{0D108BD9-81ED-4DB2-BD59-A6C34878D82A}">
                    <a16:rowId xmlns:a16="http://schemas.microsoft.com/office/drawing/2014/main" val="916600452"/>
                  </a:ext>
                </a:extLst>
              </a:tr>
              <a:tr h="370840">
                <a:tc>
                  <a:txBody>
                    <a:bodyPr/>
                    <a:lstStyle/>
                    <a:p>
                      <a:pPr algn="ctr"/>
                      <a:r>
                        <a:rPr lang="fr-FR" dirty="0"/>
                        <a:t>TPS</a:t>
                      </a:r>
                    </a:p>
                  </a:txBody>
                  <a:tcPr/>
                </a:tc>
                <a:tc>
                  <a:txBody>
                    <a:bodyPr/>
                    <a:lstStyle/>
                    <a:p>
                      <a:pPr algn="ctr"/>
                      <a:r>
                        <a:rPr lang="fr-FR" dirty="0"/>
                        <a:t>Retenu à la source</a:t>
                      </a:r>
                    </a:p>
                  </a:txBody>
                  <a:tcPr/>
                </a:tc>
                <a:extLst>
                  <a:ext uri="{0D108BD9-81ED-4DB2-BD59-A6C34878D82A}">
                    <a16:rowId xmlns:a16="http://schemas.microsoft.com/office/drawing/2014/main" val="670477334"/>
                  </a:ext>
                </a:extLst>
              </a:tr>
              <a:tr h="370840">
                <a:tc>
                  <a:txBody>
                    <a:bodyPr/>
                    <a:lstStyle/>
                    <a:p>
                      <a:pPr algn="ctr"/>
                      <a:r>
                        <a:rPr lang="fr-FR" dirty="0"/>
                        <a:t>TVQ / TVH</a:t>
                      </a:r>
                    </a:p>
                  </a:txBody>
                  <a:tcPr/>
                </a:tc>
                <a:tc>
                  <a:txBody>
                    <a:bodyPr/>
                    <a:lstStyle/>
                    <a:p>
                      <a:pPr algn="ctr"/>
                      <a:r>
                        <a:rPr lang="fr-FR" dirty="0"/>
                        <a:t>Impôts des travailleurs</a:t>
                      </a:r>
                    </a:p>
                  </a:txBody>
                  <a:tcPr/>
                </a:tc>
                <a:extLst>
                  <a:ext uri="{0D108BD9-81ED-4DB2-BD59-A6C34878D82A}">
                    <a16:rowId xmlns:a16="http://schemas.microsoft.com/office/drawing/2014/main" val="2812083101"/>
                  </a:ext>
                </a:extLst>
              </a:tr>
              <a:tr h="370840">
                <a:tc>
                  <a:txBody>
                    <a:bodyPr/>
                    <a:lstStyle/>
                    <a:p>
                      <a:pPr algn="ctr"/>
                      <a:endParaRPr lang="fr-FR" dirty="0"/>
                    </a:p>
                  </a:txBody>
                  <a:tcPr/>
                </a:tc>
                <a:tc>
                  <a:txBody>
                    <a:bodyPr/>
                    <a:lstStyle/>
                    <a:p>
                      <a:pPr algn="ctr"/>
                      <a:r>
                        <a:rPr lang="fr-FR" dirty="0"/>
                        <a:t>Assurances</a:t>
                      </a:r>
                    </a:p>
                  </a:txBody>
                  <a:tcPr/>
                </a:tc>
                <a:extLst>
                  <a:ext uri="{0D108BD9-81ED-4DB2-BD59-A6C34878D82A}">
                    <a16:rowId xmlns:a16="http://schemas.microsoft.com/office/drawing/2014/main" val="2657436780"/>
                  </a:ext>
                </a:extLst>
              </a:tr>
              <a:tr h="370840">
                <a:tc>
                  <a:txBody>
                    <a:bodyPr/>
                    <a:lstStyle/>
                    <a:p>
                      <a:pPr algn="ctr"/>
                      <a:endParaRPr lang="fr-FR"/>
                    </a:p>
                  </a:txBody>
                  <a:tcPr/>
                </a:tc>
                <a:tc>
                  <a:txBody>
                    <a:bodyPr/>
                    <a:lstStyle/>
                    <a:p>
                      <a:pPr algn="ctr"/>
                      <a:r>
                        <a:rPr lang="fr-FR" dirty="0"/>
                        <a:t>CNESST</a:t>
                      </a:r>
                    </a:p>
                  </a:txBody>
                  <a:tcPr/>
                </a:tc>
                <a:extLst>
                  <a:ext uri="{0D108BD9-81ED-4DB2-BD59-A6C34878D82A}">
                    <a16:rowId xmlns:a16="http://schemas.microsoft.com/office/drawing/2014/main" val="3858501920"/>
                  </a:ext>
                </a:extLst>
              </a:tr>
            </a:tbl>
          </a:graphicData>
        </a:graphic>
      </p:graphicFrame>
      <p:sp>
        <p:nvSpPr>
          <p:cNvPr id="9" name="ZoneTexte 8">
            <a:extLst>
              <a:ext uri="{FF2B5EF4-FFF2-40B4-BE49-F238E27FC236}">
                <a16:creationId xmlns:a16="http://schemas.microsoft.com/office/drawing/2014/main" id="{5B94AD87-D701-4475-8BC4-5D3D26733240}"/>
              </a:ext>
            </a:extLst>
          </p:cNvPr>
          <p:cNvSpPr txBox="1"/>
          <p:nvPr/>
        </p:nvSpPr>
        <p:spPr>
          <a:xfrm>
            <a:off x="2954682" y="4977142"/>
            <a:ext cx="7041223" cy="738664"/>
          </a:xfrm>
          <a:prstGeom prst="rect">
            <a:avLst/>
          </a:prstGeom>
          <a:noFill/>
        </p:spPr>
        <p:txBody>
          <a:bodyPr wrap="none" rtlCol="0">
            <a:spAutoFit/>
          </a:bodyPr>
          <a:lstStyle/>
          <a:p>
            <a:r>
              <a:rPr lang="fr-FR" sz="2400" dirty="0"/>
              <a:t>COUTE CHER QUAND VOUS NE LES PAYER PAS À TEMPS</a:t>
            </a:r>
          </a:p>
          <a:p>
            <a:endParaRPr lang="fr-FR" dirty="0"/>
          </a:p>
        </p:txBody>
      </p:sp>
    </p:spTree>
    <p:extLst>
      <p:ext uri="{BB962C8B-B14F-4D97-AF65-F5344CB8AC3E}">
        <p14:creationId xmlns:p14="http://schemas.microsoft.com/office/powerpoint/2010/main" val="314870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67465" y="655988"/>
            <a:ext cx="8668761" cy="589905"/>
          </a:xfrm>
          <a:prstGeom prst="rect">
            <a:avLst/>
          </a:prstGeom>
        </p:spPr>
        <p:txBody>
          <a:bodyPr wrap="square" lIns="0" tIns="0" rIns="0" bIns="0" rtlCol="0" anchor="t">
            <a:spAutoFit/>
          </a:bodyPr>
          <a:lstStyle/>
          <a:p>
            <a:pPr>
              <a:lnSpc>
                <a:spcPts val="4583"/>
              </a:lnSpc>
            </a:pPr>
            <a:r>
              <a:rPr lang="fr-FR" sz="4000" u="sng" spc="330" dirty="0">
                <a:solidFill>
                  <a:srgbClr val="202020"/>
                </a:solidFill>
              </a:rPr>
              <a:t>NOTION DE BASE D’UNE PAIE</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9" name="Tableau 9">
            <a:extLst>
              <a:ext uri="{FF2B5EF4-FFF2-40B4-BE49-F238E27FC236}">
                <a16:creationId xmlns:a16="http://schemas.microsoft.com/office/drawing/2014/main" id="{FE3B2372-C7CA-4A33-B16C-DE703DC001B3}"/>
              </a:ext>
            </a:extLst>
          </p:cNvPr>
          <p:cNvGraphicFramePr>
            <a:graphicFrameLocks noGrp="1"/>
          </p:cNvGraphicFramePr>
          <p:nvPr>
            <p:extLst>
              <p:ext uri="{D42A27DB-BD31-4B8C-83A1-F6EECF244321}">
                <p14:modId xmlns:p14="http://schemas.microsoft.com/office/powerpoint/2010/main" val="1218247065"/>
              </p:ext>
            </p:extLst>
          </p:nvPr>
        </p:nvGraphicFramePr>
        <p:xfrm>
          <a:off x="2287078" y="2789627"/>
          <a:ext cx="9107754" cy="3048000"/>
        </p:xfrm>
        <a:graphic>
          <a:graphicData uri="http://schemas.openxmlformats.org/drawingml/2006/table">
            <a:tbl>
              <a:tblPr firstRow="1" bandRow="1">
                <a:tableStyleId>{5C22544A-7EE6-4342-B048-85BDC9FD1C3A}</a:tableStyleId>
              </a:tblPr>
              <a:tblGrid>
                <a:gridCol w="1220386">
                  <a:extLst>
                    <a:ext uri="{9D8B030D-6E8A-4147-A177-3AD203B41FA5}">
                      <a16:colId xmlns:a16="http://schemas.microsoft.com/office/drawing/2014/main" val="876092813"/>
                    </a:ext>
                  </a:extLst>
                </a:gridCol>
                <a:gridCol w="1220386">
                  <a:extLst>
                    <a:ext uri="{9D8B030D-6E8A-4147-A177-3AD203B41FA5}">
                      <a16:colId xmlns:a16="http://schemas.microsoft.com/office/drawing/2014/main" val="3490765310"/>
                    </a:ext>
                  </a:extLst>
                </a:gridCol>
                <a:gridCol w="1365347">
                  <a:extLst>
                    <a:ext uri="{9D8B030D-6E8A-4147-A177-3AD203B41FA5}">
                      <a16:colId xmlns:a16="http://schemas.microsoft.com/office/drawing/2014/main" val="3254531053"/>
                    </a:ext>
                  </a:extLst>
                </a:gridCol>
                <a:gridCol w="1140591">
                  <a:extLst>
                    <a:ext uri="{9D8B030D-6E8A-4147-A177-3AD203B41FA5}">
                      <a16:colId xmlns:a16="http://schemas.microsoft.com/office/drawing/2014/main" val="204047678"/>
                    </a:ext>
                  </a:extLst>
                </a:gridCol>
                <a:gridCol w="1372933">
                  <a:extLst>
                    <a:ext uri="{9D8B030D-6E8A-4147-A177-3AD203B41FA5}">
                      <a16:colId xmlns:a16="http://schemas.microsoft.com/office/drawing/2014/main" val="3962923336"/>
                    </a:ext>
                  </a:extLst>
                </a:gridCol>
                <a:gridCol w="1225079">
                  <a:extLst>
                    <a:ext uri="{9D8B030D-6E8A-4147-A177-3AD203B41FA5}">
                      <a16:colId xmlns:a16="http://schemas.microsoft.com/office/drawing/2014/main" val="1125583875"/>
                    </a:ext>
                  </a:extLst>
                </a:gridCol>
                <a:gridCol w="1563032">
                  <a:extLst>
                    <a:ext uri="{9D8B030D-6E8A-4147-A177-3AD203B41FA5}">
                      <a16:colId xmlns:a16="http://schemas.microsoft.com/office/drawing/2014/main" val="3876099265"/>
                    </a:ext>
                  </a:extLst>
                </a:gridCol>
              </a:tblGrid>
              <a:tr h="370840">
                <a:tc>
                  <a:txBody>
                    <a:bodyPr/>
                    <a:lstStyle/>
                    <a:p>
                      <a:pPr algn="ctr"/>
                      <a:r>
                        <a:rPr lang="fr-FR" sz="1100" b="1" u="sng" dirty="0">
                          <a:solidFill>
                            <a:schemeClr val="tx1"/>
                          </a:solidFill>
                        </a:rPr>
                        <a:t>Lundi 4 janvier </a:t>
                      </a:r>
                    </a:p>
                    <a:p>
                      <a:pPr algn="ctr"/>
                      <a:endParaRPr lang="fr-FR" sz="1100" b="1" dirty="0">
                        <a:solidFill>
                          <a:schemeClr val="tx1"/>
                        </a:solidFill>
                      </a:endParaRPr>
                    </a:p>
                    <a:p>
                      <a:pPr algn="ctr"/>
                      <a:r>
                        <a:rPr lang="fr-FR" sz="1100" b="1" dirty="0">
                          <a:solidFill>
                            <a:schemeClr val="tx1"/>
                          </a:solidFill>
                        </a:rPr>
                        <a:t>8h de travail</a:t>
                      </a:r>
                    </a:p>
                  </a:txBody>
                  <a:tcPr>
                    <a:solidFill>
                      <a:schemeClr val="accent2">
                        <a:lumMod val="40000"/>
                        <a:lumOff val="60000"/>
                      </a:schemeClr>
                    </a:solidFill>
                  </a:tcPr>
                </a:tc>
                <a:tc>
                  <a:txBody>
                    <a:bodyPr/>
                    <a:lstStyle/>
                    <a:p>
                      <a:pPr algn="ctr"/>
                      <a:r>
                        <a:rPr lang="fr-FR" sz="1100" b="1" u="sng" dirty="0">
                          <a:solidFill>
                            <a:schemeClr val="tx1"/>
                          </a:solidFill>
                        </a:rPr>
                        <a:t>Mardi 5 janvier</a:t>
                      </a:r>
                    </a:p>
                    <a:p>
                      <a:pPr algn="ctr"/>
                      <a:endParaRPr lang="fr-FR" sz="11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8h de travail</a:t>
                      </a:r>
                    </a:p>
                  </a:txBody>
                  <a:tcPr>
                    <a:solidFill>
                      <a:schemeClr val="accent2">
                        <a:lumMod val="40000"/>
                        <a:lumOff val="60000"/>
                      </a:schemeClr>
                    </a:solidFill>
                  </a:tcPr>
                </a:tc>
                <a:tc>
                  <a:txBody>
                    <a:bodyPr/>
                    <a:lstStyle/>
                    <a:p>
                      <a:pPr algn="ctr"/>
                      <a:r>
                        <a:rPr lang="fr-FR" sz="1100" b="1" u="sng" dirty="0">
                          <a:solidFill>
                            <a:schemeClr val="tx1"/>
                          </a:solidFill>
                        </a:rPr>
                        <a:t>Mercredi 6 janvier</a:t>
                      </a:r>
                    </a:p>
                    <a:p>
                      <a:pPr algn="ctr"/>
                      <a:endParaRPr lang="fr-FR" sz="11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8h de travail</a:t>
                      </a:r>
                    </a:p>
                    <a:p>
                      <a:pPr algn="ctr"/>
                      <a:endParaRPr lang="fr-FR" sz="1100" b="1"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Jeudi 8 janvier</a:t>
                      </a:r>
                    </a:p>
                    <a:p>
                      <a:pPr algn="ctr"/>
                      <a:endParaRPr lang="fr-FR" sz="11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8h de travail</a:t>
                      </a:r>
                    </a:p>
                    <a:p>
                      <a:pPr algn="ctr"/>
                      <a:endParaRPr lang="fr-FR" sz="1100" b="1"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Vendredi 9 janvier</a:t>
                      </a:r>
                    </a:p>
                    <a:p>
                      <a:pPr algn="ctr"/>
                      <a:endParaRPr lang="fr-FR" sz="11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rPr>
                        <a:t>8h de travail</a:t>
                      </a:r>
                    </a:p>
                    <a:p>
                      <a:pPr algn="ctr"/>
                      <a:endParaRPr lang="fr-FR" sz="1100" b="1"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Samedi 10 janvier</a:t>
                      </a:r>
                    </a:p>
                  </a:txBody>
                  <a:tcPr>
                    <a:solidFill>
                      <a:schemeClr val="accent2">
                        <a:lumMod val="40000"/>
                        <a:lumOff val="60000"/>
                      </a:schemeClr>
                    </a:solidFill>
                  </a:tcPr>
                </a:tc>
                <a:tc>
                  <a:txBody>
                    <a:bodyPr/>
                    <a:lstStyle/>
                    <a:p>
                      <a:pPr algn="ctr"/>
                      <a:r>
                        <a:rPr lang="fr-FR" sz="1100" b="1" u="sng" dirty="0">
                          <a:solidFill>
                            <a:schemeClr val="tx1"/>
                          </a:solidFill>
                        </a:rPr>
                        <a:t>Dimanche 11 janvier</a:t>
                      </a:r>
                    </a:p>
                  </a:txBody>
                  <a:tcPr>
                    <a:solidFill>
                      <a:schemeClr val="accent2">
                        <a:lumMod val="40000"/>
                        <a:lumOff val="60000"/>
                      </a:schemeClr>
                    </a:solidFill>
                  </a:tcPr>
                </a:tc>
                <a:extLst>
                  <a:ext uri="{0D108BD9-81ED-4DB2-BD59-A6C34878D82A}">
                    <a16:rowId xmlns:a16="http://schemas.microsoft.com/office/drawing/2014/main" val="1444846335"/>
                  </a:ext>
                </a:extLst>
              </a:tr>
              <a:tr h="370840">
                <a:tc>
                  <a:txBody>
                    <a:bodyPr/>
                    <a:lstStyle/>
                    <a:p>
                      <a:pPr algn="ctr"/>
                      <a:r>
                        <a:rPr lang="fr-FR" sz="1100" b="1" u="sng" dirty="0">
                          <a:solidFill>
                            <a:schemeClr val="tx1"/>
                          </a:solidFill>
                        </a:rPr>
                        <a:t>Lundi 12 janvier</a:t>
                      </a:r>
                    </a:p>
                    <a:p>
                      <a:pPr algn="ctr"/>
                      <a:endParaRPr lang="fr-FR" sz="1100" b="1" u="none" dirty="0">
                        <a:solidFill>
                          <a:schemeClr val="tx1"/>
                        </a:solidFill>
                      </a:endParaRPr>
                    </a:p>
                    <a:p>
                      <a:pPr algn="ctr"/>
                      <a:r>
                        <a:rPr lang="fr-FR" sz="1100" b="1" u="none" dirty="0">
                          <a:solidFill>
                            <a:schemeClr val="tx1"/>
                          </a:solidFill>
                        </a:rPr>
                        <a:t>8 h de travail</a:t>
                      </a:r>
                    </a:p>
                    <a:p>
                      <a:pPr algn="ctr"/>
                      <a:endParaRPr lang="fr-FR" sz="1100" b="1" u="sng"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Mardi 13 janvier</a:t>
                      </a:r>
                    </a:p>
                    <a:p>
                      <a:pPr algn="ctr"/>
                      <a:endParaRPr lang="fr-FR" sz="1100" b="1" u="sng" dirty="0">
                        <a:solidFill>
                          <a:schemeClr val="tx1"/>
                        </a:solidFill>
                      </a:endParaRPr>
                    </a:p>
                    <a:p>
                      <a:pPr algn="ctr"/>
                      <a:r>
                        <a:rPr lang="fr-FR" sz="1100" b="1" u="none" dirty="0">
                          <a:solidFill>
                            <a:schemeClr val="tx1"/>
                          </a:solidFill>
                        </a:rPr>
                        <a:t>Congé</a:t>
                      </a:r>
                    </a:p>
                  </a:txBody>
                  <a:tcPr>
                    <a:solidFill>
                      <a:schemeClr val="accent2">
                        <a:lumMod val="40000"/>
                        <a:lumOff val="60000"/>
                      </a:schemeClr>
                    </a:solidFill>
                  </a:tcPr>
                </a:tc>
                <a:tc>
                  <a:txBody>
                    <a:bodyPr/>
                    <a:lstStyle/>
                    <a:p>
                      <a:pPr algn="ctr"/>
                      <a:r>
                        <a:rPr lang="fr-FR" sz="1100" b="1" u="sng" dirty="0">
                          <a:solidFill>
                            <a:schemeClr val="tx1"/>
                          </a:solidFill>
                        </a:rPr>
                        <a:t>Mercredi 14 janvier</a:t>
                      </a:r>
                    </a:p>
                    <a:p>
                      <a:pPr algn="ctr"/>
                      <a:endParaRPr lang="fr-FR" sz="1100" b="1" u="sng" dirty="0">
                        <a:solidFill>
                          <a:schemeClr val="tx1"/>
                        </a:solidFill>
                      </a:endParaRPr>
                    </a:p>
                    <a:p>
                      <a:pPr algn="ctr"/>
                      <a:r>
                        <a:rPr lang="fr-FR" sz="1100" b="1" u="none" dirty="0">
                          <a:solidFill>
                            <a:schemeClr val="tx1"/>
                          </a:solidFill>
                        </a:rPr>
                        <a:t>8 h de travail</a:t>
                      </a:r>
                    </a:p>
                  </a:txBody>
                  <a:tcPr>
                    <a:solidFill>
                      <a:schemeClr val="accent2">
                        <a:lumMod val="40000"/>
                        <a:lumOff val="60000"/>
                      </a:schemeClr>
                    </a:solidFill>
                  </a:tcPr>
                </a:tc>
                <a:tc>
                  <a:txBody>
                    <a:bodyPr/>
                    <a:lstStyle/>
                    <a:p>
                      <a:pPr algn="ctr"/>
                      <a:r>
                        <a:rPr lang="fr-FR" sz="1100" b="1" u="sng" dirty="0">
                          <a:solidFill>
                            <a:schemeClr val="tx1"/>
                          </a:solidFill>
                        </a:rPr>
                        <a:t>Jeudi 15 janvier</a:t>
                      </a:r>
                    </a:p>
                    <a:p>
                      <a:pPr algn="ctr"/>
                      <a:endParaRPr lang="fr-FR" sz="1100" b="1" u="sng" dirty="0">
                        <a:solidFill>
                          <a:schemeClr val="tx1"/>
                        </a:solidFill>
                      </a:endParaRPr>
                    </a:p>
                    <a:p>
                      <a:pPr algn="ctr"/>
                      <a:r>
                        <a:rPr lang="fr-FR" sz="1100" b="1" u="none" dirty="0">
                          <a:solidFill>
                            <a:schemeClr val="tx1"/>
                          </a:solidFill>
                        </a:rPr>
                        <a:t>Congé</a:t>
                      </a:r>
                    </a:p>
                  </a:txBody>
                  <a:tcPr>
                    <a:solidFill>
                      <a:schemeClr val="accent2">
                        <a:lumMod val="40000"/>
                        <a:lumOff val="60000"/>
                      </a:schemeClr>
                    </a:solidFill>
                  </a:tcPr>
                </a:tc>
                <a:tc>
                  <a:txBody>
                    <a:bodyPr/>
                    <a:lstStyle/>
                    <a:p>
                      <a:pPr algn="ctr"/>
                      <a:r>
                        <a:rPr lang="fr-FR" sz="1100" b="1" u="sng" dirty="0">
                          <a:solidFill>
                            <a:schemeClr val="tx1"/>
                          </a:solidFill>
                        </a:rPr>
                        <a:t>Vendredi 16 janvier</a:t>
                      </a:r>
                    </a:p>
                    <a:p>
                      <a:pPr algn="ctr"/>
                      <a:endParaRPr lang="fr-FR" sz="1100" b="1" u="sng" dirty="0">
                        <a:solidFill>
                          <a:schemeClr val="tx1"/>
                        </a:solidFill>
                      </a:endParaRPr>
                    </a:p>
                    <a:p>
                      <a:pPr algn="ctr"/>
                      <a:r>
                        <a:rPr lang="fr-FR" sz="1100" b="1" u="none" dirty="0">
                          <a:solidFill>
                            <a:schemeClr val="tx1"/>
                          </a:solidFill>
                        </a:rPr>
                        <a:t>4 h de travail</a:t>
                      </a:r>
                    </a:p>
                  </a:txBody>
                  <a:tcPr>
                    <a:solidFill>
                      <a:schemeClr val="accent2">
                        <a:lumMod val="40000"/>
                        <a:lumOff val="60000"/>
                      </a:schemeClr>
                    </a:solidFill>
                  </a:tcPr>
                </a:tc>
                <a:tc>
                  <a:txBody>
                    <a:bodyPr/>
                    <a:lstStyle/>
                    <a:p>
                      <a:pPr algn="ctr"/>
                      <a:r>
                        <a:rPr lang="fr-FR" sz="1100" b="1" u="sng" dirty="0">
                          <a:solidFill>
                            <a:schemeClr val="tx1"/>
                          </a:solidFill>
                        </a:rPr>
                        <a:t>Samedi 17 janvier</a:t>
                      </a:r>
                    </a:p>
                  </a:txBody>
                  <a:tcPr>
                    <a:solidFill>
                      <a:schemeClr val="accent2">
                        <a:lumMod val="40000"/>
                        <a:lumOff val="60000"/>
                      </a:schemeClr>
                    </a:solidFill>
                  </a:tcPr>
                </a:tc>
                <a:tc>
                  <a:txBody>
                    <a:bodyPr/>
                    <a:lstStyle/>
                    <a:p>
                      <a:pPr algn="ctr"/>
                      <a:r>
                        <a:rPr lang="fr-FR" sz="1100" b="1" u="sng" dirty="0">
                          <a:solidFill>
                            <a:schemeClr val="tx1"/>
                          </a:solidFill>
                        </a:rPr>
                        <a:t>Dimanche 18 janvier</a:t>
                      </a:r>
                    </a:p>
                    <a:p>
                      <a:pPr algn="ctr"/>
                      <a:endParaRPr lang="fr-FR" sz="1100" b="1" u="sng" dirty="0">
                        <a:solidFill>
                          <a:schemeClr val="tx1"/>
                        </a:solidFill>
                      </a:endParaRPr>
                    </a:p>
                    <a:p>
                      <a:pPr algn="ctr"/>
                      <a:r>
                        <a:rPr lang="fr-FR" sz="1100" b="1" u="none" dirty="0">
                          <a:solidFill>
                            <a:schemeClr val="tx1"/>
                          </a:solidFill>
                        </a:rPr>
                        <a:t>3h de travail</a:t>
                      </a:r>
                    </a:p>
                  </a:txBody>
                  <a:tcPr>
                    <a:solidFill>
                      <a:schemeClr val="accent2">
                        <a:lumMod val="40000"/>
                        <a:lumOff val="60000"/>
                      </a:schemeClr>
                    </a:solidFill>
                  </a:tcPr>
                </a:tc>
                <a:extLst>
                  <a:ext uri="{0D108BD9-81ED-4DB2-BD59-A6C34878D82A}">
                    <a16:rowId xmlns:a16="http://schemas.microsoft.com/office/drawing/2014/main" val="2091441874"/>
                  </a:ext>
                </a:extLst>
              </a:tr>
              <a:tr h="370840">
                <a:tc>
                  <a:txBody>
                    <a:bodyPr/>
                    <a:lstStyle/>
                    <a:p>
                      <a:pPr algn="ctr"/>
                      <a:r>
                        <a:rPr lang="fr-FR" sz="1100" b="1" u="sng" dirty="0">
                          <a:solidFill>
                            <a:schemeClr val="tx1"/>
                          </a:solidFill>
                        </a:rPr>
                        <a:t>Lundi 19 janvier</a:t>
                      </a:r>
                    </a:p>
                    <a:p>
                      <a:pPr algn="ctr"/>
                      <a:endParaRPr lang="fr-FR" sz="1100" b="1" u="sng" dirty="0">
                        <a:solidFill>
                          <a:schemeClr val="tx1"/>
                        </a:solidFill>
                      </a:endParaRPr>
                    </a:p>
                    <a:p>
                      <a:pPr algn="ctr"/>
                      <a:r>
                        <a:rPr lang="fr-FR" sz="1100" b="1" u="none" dirty="0">
                          <a:solidFill>
                            <a:schemeClr val="tx1"/>
                          </a:solidFill>
                        </a:rPr>
                        <a:t>6h de travail</a:t>
                      </a:r>
                    </a:p>
                  </a:txBody>
                  <a:tcPr>
                    <a:solidFill>
                      <a:schemeClr val="accent2">
                        <a:lumMod val="40000"/>
                        <a:lumOff val="60000"/>
                      </a:schemeClr>
                    </a:solidFill>
                  </a:tcPr>
                </a:tc>
                <a:tc>
                  <a:txBody>
                    <a:bodyPr/>
                    <a:lstStyle/>
                    <a:p>
                      <a:pPr algn="ctr"/>
                      <a:r>
                        <a:rPr lang="fr-FR" sz="1100" b="1" u="sng" dirty="0">
                          <a:solidFill>
                            <a:schemeClr val="tx1"/>
                          </a:solidFill>
                        </a:rPr>
                        <a:t>Mardi 20 janvier</a:t>
                      </a:r>
                    </a:p>
                    <a:p>
                      <a:pPr algn="ctr"/>
                      <a:endParaRPr lang="fr-FR" sz="1100" b="1" u="sng" dirty="0">
                        <a:solidFill>
                          <a:schemeClr val="tx1"/>
                        </a:solidFill>
                      </a:endParaRPr>
                    </a:p>
                    <a:p>
                      <a:pPr algn="ctr"/>
                      <a:r>
                        <a:rPr lang="fr-FR" sz="1100" b="1" u="none" dirty="0">
                          <a:solidFill>
                            <a:schemeClr val="tx1"/>
                          </a:solidFill>
                        </a:rPr>
                        <a:t>10h de travail</a:t>
                      </a:r>
                    </a:p>
                  </a:txBody>
                  <a:tcPr>
                    <a:solidFill>
                      <a:schemeClr val="accent2">
                        <a:lumMod val="40000"/>
                        <a:lumOff val="60000"/>
                      </a:schemeClr>
                    </a:solidFill>
                  </a:tcPr>
                </a:tc>
                <a:tc>
                  <a:txBody>
                    <a:bodyPr/>
                    <a:lstStyle/>
                    <a:p>
                      <a:pPr algn="ctr"/>
                      <a:r>
                        <a:rPr lang="fr-FR" sz="1100" b="1" u="sng" dirty="0">
                          <a:solidFill>
                            <a:schemeClr val="tx1"/>
                          </a:solidFill>
                        </a:rPr>
                        <a:t>Mercredi 21 janvier</a:t>
                      </a:r>
                    </a:p>
                    <a:p>
                      <a:pPr algn="ctr"/>
                      <a:endParaRPr lang="fr-FR" sz="1100" b="1" u="sng" dirty="0">
                        <a:solidFill>
                          <a:schemeClr val="tx1"/>
                        </a:solidFill>
                      </a:endParaRPr>
                    </a:p>
                    <a:p>
                      <a:pPr algn="ctr"/>
                      <a:r>
                        <a:rPr lang="fr-FR" sz="1100" b="1" u="none" dirty="0">
                          <a:solidFill>
                            <a:schemeClr val="tx1"/>
                          </a:solidFill>
                        </a:rPr>
                        <a:t>Congé</a:t>
                      </a:r>
                    </a:p>
                  </a:txBody>
                  <a:tcPr>
                    <a:solidFill>
                      <a:schemeClr val="accent2">
                        <a:lumMod val="40000"/>
                        <a:lumOff val="60000"/>
                      </a:schemeClr>
                    </a:solidFill>
                  </a:tcPr>
                </a:tc>
                <a:tc>
                  <a:txBody>
                    <a:bodyPr/>
                    <a:lstStyle/>
                    <a:p>
                      <a:pPr algn="ctr"/>
                      <a:r>
                        <a:rPr lang="fr-FR" sz="1100" b="1" u="sng" dirty="0">
                          <a:solidFill>
                            <a:schemeClr val="tx1"/>
                          </a:solidFill>
                        </a:rPr>
                        <a:t>Jeudi 22 janvier</a:t>
                      </a:r>
                    </a:p>
                    <a:p>
                      <a:pPr algn="ctr"/>
                      <a:endParaRPr lang="fr-FR" sz="1100" b="1" u="sng" dirty="0">
                        <a:solidFill>
                          <a:schemeClr val="tx1"/>
                        </a:solidFill>
                      </a:endParaRPr>
                    </a:p>
                    <a:p>
                      <a:pPr algn="ctr"/>
                      <a:r>
                        <a:rPr lang="fr-FR" sz="1100" b="1" u="none" dirty="0">
                          <a:solidFill>
                            <a:schemeClr val="tx1"/>
                          </a:solidFill>
                        </a:rPr>
                        <a:t>Congé</a:t>
                      </a:r>
                    </a:p>
                  </a:txBody>
                  <a:tcPr>
                    <a:solidFill>
                      <a:schemeClr val="accent2">
                        <a:lumMod val="40000"/>
                        <a:lumOff val="60000"/>
                      </a:schemeClr>
                    </a:solidFill>
                  </a:tcPr>
                </a:tc>
                <a:tc>
                  <a:txBody>
                    <a:bodyPr/>
                    <a:lstStyle/>
                    <a:p>
                      <a:pPr algn="ctr"/>
                      <a:r>
                        <a:rPr lang="fr-FR" sz="1100" b="1" u="sng" dirty="0">
                          <a:solidFill>
                            <a:schemeClr val="tx1"/>
                          </a:solidFill>
                        </a:rPr>
                        <a:t>Vendredi 23 janvier</a:t>
                      </a:r>
                    </a:p>
                    <a:p>
                      <a:pPr algn="ctr"/>
                      <a:endParaRPr lang="fr-FR" sz="1100" b="1" u="sng" dirty="0">
                        <a:solidFill>
                          <a:schemeClr val="tx1"/>
                        </a:solidFill>
                      </a:endParaRPr>
                    </a:p>
                    <a:p>
                      <a:pPr algn="ctr"/>
                      <a:r>
                        <a:rPr lang="fr-FR" sz="1100" b="1" u="none" dirty="0">
                          <a:solidFill>
                            <a:schemeClr val="tx1"/>
                          </a:solidFill>
                        </a:rPr>
                        <a:t>10h de travail</a:t>
                      </a:r>
                    </a:p>
                    <a:p>
                      <a:pPr algn="ctr"/>
                      <a:endParaRPr lang="fr-FR" sz="1100" b="1" u="sng"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Samedi 24 janvier</a:t>
                      </a:r>
                    </a:p>
                  </a:txBody>
                  <a:tcPr>
                    <a:solidFill>
                      <a:schemeClr val="accent2">
                        <a:lumMod val="40000"/>
                        <a:lumOff val="60000"/>
                      </a:schemeClr>
                    </a:solidFill>
                  </a:tcPr>
                </a:tc>
                <a:tc>
                  <a:txBody>
                    <a:bodyPr/>
                    <a:lstStyle/>
                    <a:p>
                      <a:pPr algn="ctr"/>
                      <a:r>
                        <a:rPr lang="fr-FR" sz="1100" b="1" u="sng" dirty="0">
                          <a:solidFill>
                            <a:schemeClr val="tx1"/>
                          </a:solidFill>
                        </a:rPr>
                        <a:t>Dimanche 25 janvier</a:t>
                      </a:r>
                    </a:p>
                  </a:txBody>
                  <a:tcPr>
                    <a:solidFill>
                      <a:schemeClr val="accent2">
                        <a:lumMod val="40000"/>
                        <a:lumOff val="60000"/>
                      </a:schemeClr>
                    </a:solidFill>
                  </a:tcPr>
                </a:tc>
                <a:extLst>
                  <a:ext uri="{0D108BD9-81ED-4DB2-BD59-A6C34878D82A}">
                    <a16:rowId xmlns:a16="http://schemas.microsoft.com/office/drawing/2014/main" val="641550301"/>
                  </a:ext>
                </a:extLst>
              </a:tr>
              <a:tr h="370840">
                <a:tc>
                  <a:txBody>
                    <a:bodyPr/>
                    <a:lstStyle/>
                    <a:p>
                      <a:pPr algn="ctr"/>
                      <a:r>
                        <a:rPr lang="fr-FR" sz="1100" b="1" u="sng" dirty="0">
                          <a:solidFill>
                            <a:schemeClr val="tx1"/>
                          </a:solidFill>
                        </a:rPr>
                        <a:t>Lundi 26 janvier </a:t>
                      </a:r>
                    </a:p>
                  </a:txBody>
                  <a:tcPr>
                    <a:solidFill>
                      <a:schemeClr val="accent2">
                        <a:lumMod val="40000"/>
                        <a:lumOff val="60000"/>
                      </a:schemeClr>
                    </a:solidFill>
                  </a:tcPr>
                </a:tc>
                <a:tc>
                  <a:txBody>
                    <a:bodyPr/>
                    <a:lstStyle/>
                    <a:p>
                      <a:pPr algn="ctr"/>
                      <a:r>
                        <a:rPr lang="fr-FR" sz="1100" b="1" u="sng" dirty="0">
                          <a:solidFill>
                            <a:schemeClr val="tx1"/>
                          </a:solidFill>
                        </a:rPr>
                        <a:t>Mardi 27 janvier</a:t>
                      </a:r>
                    </a:p>
                  </a:txBody>
                  <a:tcPr>
                    <a:solidFill>
                      <a:schemeClr val="accent2">
                        <a:lumMod val="40000"/>
                        <a:lumOff val="60000"/>
                      </a:schemeClr>
                    </a:solidFill>
                  </a:tcPr>
                </a:tc>
                <a:tc>
                  <a:txBody>
                    <a:bodyPr/>
                    <a:lstStyle/>
                    <a:p>
                      <a:pPr algn="ctr"/>
                      <a:r>
                        <a:rPr lang="fr-FR" sz="1100" b="1" u="sng" dirty="0">
                          <a:solidFill>
                            <a:schemeClr val="tx1"/>
                          </a:solidFill>
                        </a:rPr>
                        <a:t>Mercredi 28 janvier</a:t>
                      </a:r>
                    </a:p>
                  </a:txBody>
                  <a:tcPr>
                    <a:solidFill>
                      <a:schemeClr val="accent2">
                        <a:lumMod val="40000"/>
                        <a:lumOff val="60000"/>
                      </a:schemeClr>
                    </a:solidFill>
                  </a:tcPr>
                </a:tc>
                <a:tc>
                  <a:txBody>
                    <a:bodyPr/>
                    <a:lstStyle/>
                    <a:p>
                      <a:pPr algn="ctr"/>
                      <a:r>
                        <a:rPr lang="fr-FR" sz="1100" b="1" u="sng" dirty="0">
                          <a:solidFill>
                            <a:schemeClr val="tx1"/>
                          </a:solidFill>
                        </a:rPr>
                        <a:t>Jeudi 29 janvier</a:t>
                      </a:r>
                    </a:p>
                  </a:txBody>
                  <a:tcPr>
                    <a:solidFill>
                      <a:schemeClr val="accent2">
                        <a:lumMod val="40000"/>
                        <a:lumOff val="60000"/>
                      </a:schemeClr>
                    </a:solidFill>
                  </a:tcPr>
                </a:tc>
                <a:tc>
                  <a:txBody>
                    <a:bodyPr/>
                    <a:lstStyle/>
                    <a:p>
                      <a:pPr algn="ctr"/>
                      <a:r>
                        <a:rPr lang="fr-FR" sz="1100" b="1" u="sng" dirty="0">
                          <a:solidFill>
                            <a:schemeClr val="tx1"/>
                          </a:solidFill>
                        </a:rPr>
                        <a:t>Vendredi 30 janvier</a:t>
                      </a:r>
                    </a:p>
                    <a:p>
                      <a:pPr algn="ctr"/>
                      <a:endParaRPr lang="fr-FR" sz="1100" b="1" u="sng" dirty="0">
                        <a:solidFill>
                          <a:schemeClr val="tx1"/>
                        </a:solidFill>
                      </a:endParaRPr>
                    </a:p>
                    <a:p>
                      <a:pPr algn="ctr"/>
                      <a:endParaRPr lang="fr-FR" sz="1100" b="1" u="sng" dirty="0">
                        <a:solidFill>
                          <a:schemeClr val="tx1"/>
                        </a:solidFill>
                      </a:endParaRPr>
                    </a:p>
                    <a:p>
                      <a:pPr algn="ctr"/>
                      <a:endParaRPr lang="fr-FR" sz="1100" b="1" u="sng" dirty="0">
                        <a:solidFill>
                          <a:schemeClr val="tx1"/>
                        </a:solidFill>
                      </a:endParaRPr>
                    </a:p>
                  </a:txBody>
                  <a:tcPr>
                    <a:solidFill>
                      <a:schemeClr val="accent2">
                        <a:lumMod val="40000"/>
                        <a:lumOff val="60000"/>
                      </a:schemeClr>
                    </a:solidFill>
                  </a:tcPr>
                </a:tc>
                <a:tc>
                  <a:txBody>
                    <a:bodyPr/>
                    <a:lstStyle/>
                    <a:p>
                      <a:pPr algn="ctr"/>
                      <a:r>
                        <a:rPr lang="fr-FR" sz="1100" b="1" u="sng" dirty="0">
                          <a:solidFill>
                            <a:schemeClr val="tx1"/>
                          </a:solidFill>
                        </a:rPr>
                        <a:t>Samedi 31 janvier</a:t>
                      </a:r>
                    </a:p>
                  </a:txBody>
                  <a:tcPr>
                    <a:solidFill>
                      <a:schemeClr val="accent2">
                        <a:lumMod val="40000"/>
                        <a:lumOff val="60000"/>
                      </a:schemeClr>
                    </a:solidFill>
                  </a:tcPr>
                </a:tc>
                <a:tc>
                  <a:txBody>
                    <a:bodyPr/>
                    <a:lstStyle/>
                    <a:p>
                      <a:pPr algn="ctr"/>
                      <a:r>
                        <a:rPr lang="fr-FR" sz="1100" b="1" u="sng" dirty="0">
                          <a:solidFill>
                            <a:schemeClr val="tx1"/>
                          </a:solidFill>
                        </a:rPr>
                        <a:t>Dimanche 1 février</a:t>
                      </a:r>
                    </a:p>
                    <a:p>
                      <a:pPr algn="ctr"/>
                      <a:endParaRPr lang="fr-FR" sz="1100" b="1" u="sng" dirty="0">
                        <a:solidFill>
                          <a:schemeClr val="tx1"/>
                        </a:solidFill>
                      </a:endParaRPr>
                    </a:p>
                    <a:p>
                      <a:pPr algn="ctr"/>
                      <a:endParaRPr lang="fr-FR" sz="1100" b="1" u="sng" dirty="0">
                        <a:solidFill>
                          <a:schemeClr val="tx1"/>
                        </a:solidFill>
                      </a:endParaRPr>
                    </a:p>
                  </a:txBody>
                  <a:tcPr>
                    <a:solidFill>
                      <a:schemeClr val="accent2">
                        <a:lumMod val="40000"/>
                        <a:lumOff val="60000"/>
                      </a:schemeClr>
                    </a:solidFill>
                  </a:tcPr>
                </a:tc>
                <a:extLst>
                  <a:ext uri="{0D108BD9-81ED-4DB2-BD59-A6C34878D82A}">
                    <a16:rowId xmlns:a16="http://schemas.microsoft.com/office/drawing/2014/main" val="4035964849"/>
                  </a:ext>
                </a:extLst>
              </a:tr>
            </a:tbl>
          </a:graphicData>
        </a:graphic>
      </p:graphicFrame>
      <p:sp>
        <p:nvSpPr>
          <p:cNvPr id="11" name="ZoneTexte 10">
            <a:extLst>
              <a:ext uri="{FF2B5EF4-FFF2-40B4-BE49-F238E27FC236}">
                <a16:creationId xmlns:a16="http://schemas.microsoft.com/office/drawing/2014/main" id="{23C0BDB0-8DD1-4D08-A8BA-9510ED13D360}"/>
              </a:ext>
            </a:extLst>
          </p:cNvPr>
          <p:cNvSpPr txBox="1"/>
          <p:nvPr/>
        </p:nvSpPr>
        <p:spPr>
          <a:xfrm>
            <a:off x="2367465" y="1859470"/>
            <a:ext cx="4742822" cy="369332"/>
          </a:xfrm>
          <a:prstGeom prst="rect">
            <a:avLst/>
          </a:prstGeom>
          <a:noFill/>
        </p:spPr>
        <p:txBody>
          <a:bodyPr wrap="square" rtlCol="0">
            <a:spAutoFit/>
          </a:bodyPr>
          <a:lstStyle/>
          <a:p>
            <a:r>
              <a:rPr lang="fr-FR" dirty="0"/>
              <a:t>Les paies sont effectuées aux 2 semaines</a:t>
            </a:r>
          </a:p>
        </p:txBody>
      </p:sp>
      <p:sp>
        <p:nvSpPr>
          <p:cNvPr id="12" name="Étoile : 5 branches 11">
            <a:extLst>
              <a:ext uri="{FF2B5EF4-FFF2-40B4-BE49-F238E27FC236}">
                <a16:creationId xmlns:a16="http://schemas.microsoft.com/office/drawing/2014/main" id="{163CD63C-D1B3-4601-B22A-C8FE5F26B05B}"/>
              </a:ext>
            </a:extLst>
          </p:cNvPr>
          <p:cNvSpPr/>
          <p:nvPr/>
        </p:nvSpPr>
        <p:spPr>
          <a:xfrm>
            <a:off x="774282" y="4462388"/>
            <a:ext cx="787551" cy="612949"/>
          </a:xfrm>
          <a:prstGeom prst="star5">
            <a:avLst>
              <a:gd name="adj" fmla="val 27995"/>
              <a:gd name="hf" fmla="val 105146"/>
              <a:gd name="vf" fmla="val 11055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1050" dirty="0">
                <a:solidFill>
                  <a:schemeClr val="tx1"/>
                </a:solidFill>
              </a:rPr>
              <a:t>Paie</a:t>
            </a:r>
          </a:p>
        </p:txBody>
      </p:sp>
      <p:sp>
        <p:nvSpPr>
          <p:cNvPr id="15" name="Étoile : 5 branches 14">
            <a:extLst>
              <a:ext uri="{FF2B5EF4-FFF2-40B4-BE49-F238E27FC236}">
                <a16:creationId xmlns:a16="http://schemas.microsoft.com/office/drawing/2014/main" id="{80B52E42-000C-42DB-B2B6-34EE4E0C5E90}"/>
              </a:ext>
            </a:extLst>
          </p:cNvPr>
          <p:cNvSpPr/>
          <p:nvPr/>
        </p:nvSpPr>
        <p:spPr>
          <a:xfrm>
            <a:off x="675667" y="3540425"/>
            <a:ext cx="1130032" cy="688650"/>
          </a:xfrm>
          <a:prstGeom prst="star5">
            <a:avLst>
              <a:gd name="adj" fmla="val 23547"/>
              <a:gd name="hf" fmla="val 105146"/>
              <a:gd name="vf" fmla="val 11055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1050" dirty="0" err="1">
                <a:solidFill>
                  <a:schemeClr val="tx1"/>
                </a:solidFill>
              </a:rPr>
              <a:t>Prép</a:t>
            </a:r>
            <a:r>
              <a:rPr lang="fr-FR" sz="1050" dirty="0">
                <a:solidFill>
                  <a:schemeClr val="tx1"/>
                </a:solidFill>
              </a:rPr>
              <a:t> Paie</a:t>
            </a:r>
          </a:p>
        </p:txBody>
      </p:sp>
    </p:spTree>
    <p:extLst>
      <p:ext uri="{BB962C8B-B14F-4D97-AF65-F5344CB8AC3E}">
        <p14:creationId xmlns:p14="http://schemas.microsoft.com/office/powerpoint/2010/main" val="4027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0833E-6 4.81481E-6 L 0.13399 0.12662 " pathEditMode="relative" rAng="0" ptsTypes="AA">
                                      <p:cBhvr>
                                        <p:cTn id="6" dur="2000" fill="hold"/>
                                        <p:tgtEl>
                                          <p:spTgt spid="15"/>
                                        </p:tgtEl>
                                        <p:attrNameLst>
                                          <p:attrName>ppt_x</p:attrName>
                                          <p:attrName>ppt_y</p:attrName>
                                        </p:attrNameLst>
                                      </p:cBhvr>
                                      <p:rCtr x="6693" y="6319"/>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3.33333E-6 -3.7037E-7 L 0.44818 0.00069 " pathEditMode="relative" rAng="0" ptsTypes="AA">
                                      <p:cBhvr>
                                        <p:cTn id="10" dur="2000" fill="hold"/>
                                        <p:tgtEl>
                                          <p:spTgt spid="12"/>
                                        </p:tgtEl>
                                        <p:attrNameLst>
                                          <p:attrName>ppt_x</p:attrName>
                                          <p:attrName>ppt_y</p:attrName>
                                        </p:attrNameLst>
                                      </p:cBhvr>
                                      <p:rCtr x="2240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67465" y="655988"/>
            <a:ext cx="8668761" cy="589905"/>
          </a:xfrm>
          <a:prstGeom prst="rect">
            <a:avLst/>
          </a:prstGeom>
        </p:spPr>
        <p:txBody>
          <a:bodyPr wrap="square" lIns="0" tIns="0" rIns="0" bIns="0" rtlCol="0" anchor="t">
            <a:spAutoFit/>
          </a:bodyPr>
          <a:lstStyle/>
          <a:p>
            <a:pPr>
              <a:lnSpc>
                <a:spcPts val="4583"/>
              </a:lnSpc>
            </a:pPr>
            <a:r>
              <a:rPr lang="fr-FR" sz="4000" u="sng" spc="330" dirty="0">
                <a:solidFill>
                  <a:srgbClr val="202020"/>
                </a:solidFill>
              </a:rPr>
              <a:t>DAS</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ZoneTexte 2">
            <a:extLst>
              <a:ext uri="{FF2B5EF4-FFF2-40B4-BE49-F238E27FC236}">
                <a16:creationId xmlns:a16="http://schemas.microsoft.com/office/drawing/2014/main" id="{37BA4953-BB2D-45DB-AA5D-78B03DF54243}"/>
              </a:ext>
            </a:extLst>
          </p:cNvPr>
          <p:cNvSpPr txBox="1"/>
          <p:nvPr/>
        </p:nvSpPr>
        <p:spPr>
          <a:xfrm>
            <a:off x="2367465" y="2047028"/>
            <a:ext cx="2092328" cy="3785652"/>
          </a:xfrm>
          <a:prstGeom prst="rect">
            <a:avLst/>
          </a:prstGeom>
          <a:noFill/>
        </p:spPr>
        <p:txBody>
          <a:bodyPr wrap="square" rtlCol="0">
            <a:spAutoFit/>
          </a:bodyPr>
          <a:lstStyle/>
          <a:p>
            <a:r>
              <a:rPr lang="fr-FR" sz="2000" dirty="0"/>
              <a:t>QUOI :</a:t>
            </a:r>
          </a:p>
          <a:p>
            <a:endParaRPr lang="fr-FR" sz="2000" dirty="0"/>
          </a:p>
          <a:p>
            <a:r>
              <a:rPr lang="fr-FR" sz="2000" dirty="0"/>
              <a:t>QUI DOIT LE PAYER :</a:t>
            </a:r>
          </a:p>
          <a:p>
            <a:endParaRPr lang="fr-FR" sz="2000" dirty="0"/>
          </a:p>
          <a:p>
            <a:r>
              <a:rPr lang="fr-FR" sz="2000" dirty="0"/>
              <a:t>QUAND :</a:t>
            </a:r>
          </a:p>
          <a:p>
            <a:endParaRPr lang="fr-FR" sz="2000" dirty="0"/>
          </a:p>
          <a:p>
            <a:r>
              <a:rPr lang="fr-FR" sz="2000" dirty="0"/>
              <a:t>POURQUOI :</a:t>
            </a:r>
          </a:p>
          <a:p>
            <a:endParaRPr lang="fr-FR" sz="2000" dirty="0"/>
          </a:p>
          <a:p>
            <a:r>
              <a:rPr lang="fr-FR" sz="2000" dirty="0"/>
              <a:t>COMMENT :</a:t>
            </a:r>
          </a:p>
          <a:p>
            <a:endParaRPr lang="fr-FR" sz="2000" dirty="0"/>
          </a:p>
          <a:p>
            <a:r>
              <a:rPr lang="fr-FR" sz="2000" dirty="0"/>
              <a:t>À PAYER QUAND : </a:t>
            </a:r>
          </a:p>
        </p:txBody>
      </p:sp>
      <p:sp>
        <p:nvSpPr>
          <p:cNvPr id="5" name="ZoneTexte 4">
            <a:extLst>
              <a:ext uri="{FF2B5EF4-FFF2-40B4-BE49-F238E27FC236}">
                <a16:creationId xmlns:a16="http://schemas.microsoft.com/office/drawing/2014/main" id="{3B86A50C-6E13-43D8-8235-1ADCA3A3CFFC}"/>
              </a:ext>
            </a:extLst>
          </p:cNvPr>
          <p:cNvSpPr txBox="1"/>
          <p:nvPr/>
        </p:nvSpPr>
        <p:spPr>
          <a:xfrm>
            <a:off x="4612192" y="2047028"/>
            <a:ext cx="6677408" cy="3785652"/>
          </a:xfrm>
          <a:prstGeom prst="rect">
            <a:avLst/>
          </a:prstGeom>
          <a:noFill/>
        </p:spPr>
        <p:txBody>
          <a:bodyPr wrap="square" rtlCol="0">
            <a:spAutoFit/>
          </a:bodyPr>
          <a:lstStyle/>
          <a:p>
            <a:r>
              <a:rPr lang="fr-FR" sz="2000" dirty="0"/>
              <a:t>Déduction à la source</a:t>
            </a:r>
          </a:p>
          <a:p>
            <a:endParaRPr lang="fr-FR" sz="2000" dirty="0"/>
          </a:p>
          <a:p>
            <a:r>
              <a:rPr lang="fr-FR" sz="2000" dirty="0"/>
              <a:t>Tous les employeurs doivent le payer pour des employés déclarés.</a:t>
            </a:r>
          </a:p>
          <a:p>
            <a:endParaRPr lang="fr-FR" sz="2000" dirty="0"/>
          </a:p>
          <a:p>
            <a:r>
              <a:rPr lang="fr-FR" sz="2000" dirty="0"/>
              <a:t>À chaque paie</a:t>
            </a:r>
          </a:p>
          <a:p>
            <a:endParaRPr lang="fr-FR" sz="2000" dirty="0"/>
          </a:p>
          <a:p>
            <a:r>
              <a:rPr lang="fr-FR" sz="2000" dirty="0"/>
              <a:t>Obligation de l’employeur</a:t>
            </a:r>
          </a:p>
          <a:p>
            <a:endParaRPr lang="fr-FR" sz="2000" dirty="0"/>
          </a:p>
          <a:p>
            <a:r>
              <a:rPr lang="fr-FR" sz="2000" dirty="0" err="1"/>
              <a:t>Nethris</a:t>
            </a:r>
            <a:r>
              <a:rPr lang="fr-FR" sz="2000" dirty="0"/>
              <a:t> vous dire exactement les montants</a:t>
            </a:r>
          </a:p>
          <a:p>
            <a:endParaRPr lang="fr-FR" sz="2000" dirty="0"/>
          </a:p>
          <a:p>
            <a:r>
              <a:rPr lang="fr-FR" sz="2000" dirty="0"/>
              <a:t>Prélevé sur chaque paie</a:t>
            </a:r>
          </a:p>
        </p:txBody>
      </p:sp>
    </p:spTree>
    <p:extLst>
      <p:ext uri="{BB962C8B-B14F-4D97-AF65-F5344CB8AC3E}">
        <p14:creationId xmlns:p14="http://schemas.microsoft.com/office/powerpoint/2010/main" val="183524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67465"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DAS – Point de vue employeur</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8">
            <a:extLst>
              <a:ext uri="{FF2B5EF4-FFF2-40B4-BE49-F238E27FC236}">
                <a16:creationId xmlns:a16="http://schemas.microsoft.com/office/drawing/2014/main" id="{59404A63-6988-4C60-8C22-45F28D349DE3}"/>
              </a:ext>
            </a:extLst>
          </p:cNvPr>
          <p:cNvGraphicFramePr>
            <a:graphicFrameLocks noGrp="1"/>
          </p:cNvGraphicFramePr>
          <p:nvPr>
            <p:extLst>
              <p:ext uri="{D42A27DB-BD31-4B8C-83A1-F6EECF244321}">
                <p14:modId xmlns:p14="http://schemas.microsoft.com/office/powerpoint/2010/main" val="4086060836"/>
              </p:ext>
            </p:extLst>
          </p:nvPr>
        </p:nvGraphicFramePr>
        <p:xfrm>
          <a:off x="4783432" y="2506978"/>
          <a:ext cx="2965661" cy="1844044"/>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3225621809"/>
                    </a:ext>
                  </a:extLst>
                </a:gridCol>
              </a:tblGrid>
              <a:tr h="461011">
                <a:tc>
                  <a:txBody>
                    <a:bodyPr/>
                    <a:lstStyle/>
                    <a:p>
                      <a:pPr algn="ctr"/>
                      <a:r>
                        <a:rPr lang="fr-FR" b="1" u="sng" dirty="0">
                          <a:solidFill>
                            <a:schemeClr val="bg1"/>
                          </a:solidFill>
                        </a:rPr>
                        <a:t>Déduction à la source</a:t>
                      </a:r>
                    </a:p>
                  </a:txBody>
                  <a:tcPr>
                    <a:solidFill>
                      <a:schemeClr val="accent1">
                        <a:lumMod val="50000"/>
                      </a:schemeClr>
                    </a:solidFill>
                  </a:tcPr>
                </a:tc>
                <a:extLst>
                  <a:ext uri="{0D108BD9-81ED-4DB2-BD59-A6C34878D82A}">
                    <a16:rowId xmlns:a16="http://schemas.microsoft.com/office/drawing/2014/main" val="1177175681"/>
                  </a:ext>
                </a:extLst>
              </a:tr>
              <a:tr h="461011">
                <a:tc>
                  <a:txBody>
                    <a:bodyPr/>
                    <a:lstStyle/>
                    <a:p>
                      <a:pPr algn="ctr"/>
                      <a:r>
                        <a:rPr lang="fr-FR" b="1" dirty="0">
                          <a:solidFill>
                            <a:schemeClr val="bg1"/>
                          </a:solidFill>
                        </a:rPr>
                        <a:t>RRQ </a:t>
                      </a:r>
                    </a:p>
                  </a:txBody>
                  <a:tcPr>
                    <a:solidFill>
                      <a:schemeClr val="accent1">
                        <a:lumMod val="50000"/>
                      </a:schemeClr>
                    </a:solidFill>
                  </a:tcPr>
                </a:tc>
                <a:extLst>
                  <a:ext uri="{0D108BD9-81ED-4DB2-BD59-A6C34878D82A}">
                    <a16:rowId xmlns:a16="http://schemas.microsoft.com/office/drawing/2014/main" val="3885393346"/>
                  </a:ext>
                </a:extLst>
              </a:tr>
              <a:tr h="461011">
                <a:tc>
                  <a:txBody>
                    <a:bodyPr/>
                    <a:lstStyle/>
                    <a:p>
                      <a:pPr algn="ctr"/>
                      <a:r>
                        <a:rPr lang="fr-FR" b="1" dirty="0">
                          <a:solidFill>
                            <a:schemeClr val="bg1"/>
                          </a:solidFill>
                        </a:rPr>
                        <a:t>FSS</a:t>
                      </a:r>
                    </a:p>
                  </a:txBody>
                  <a:tcPr>
                    <a:solidFill>
                      <a:schemeClr val="accent1">
                        <a:lumMod val="50000"/>
                      </a:schemeClr>
                    </a:solidFill>
                  </a:tcPr>
                </a:tc>
                <a:extLst>
                  <a:ext uri="{0D108BD9-81ED-4DB2-BD59-A6C34878D82A}">
                    <a16:rowId xmlns:a16="http://schemas.microsoft.com/office/drawing/2014/main" val="1777818025"/>
                  </a:ext>
                </a:extLst>
              </a:tr>
              <a:tr h="461011">
                <a:tc>
                  <a:txBody>
                    <a:bodyPr/>
                    <a:lstStyle/>
                    <a:p>
                      <a:pPr algn="ctr"/>
                      <a:r>
                        <a:rPr lang="fr-FR" b="1" dirty="0">
                          <a:solidFill>
                            <a:schemeClr val="bg1"/>
                          </a:solidFill>
                        </a:rPr>
                        <a:t>RQAP</a:t>
                      </a:r>
                    </a:p>
                  </a:txBody>
                  <a:tcPr>
                    <a:solidFill>
                      <a:schemeClr val="accent1">
                        <a:lumMod val="50000"/>
                      </a:schemeClr>
                    </a:solidFill>
                  </a:tcPr>
                </a:tc>
                <a:extLst>
                  <a:ext uri="{0D108BD9-81ED-4DB2-BD59-A6C34878D82A}">
                    <a16:rowId xmlns:a16="http://schemas.microsoft.com/office/drawing/2014/main" val="2866142127"/>
                  </a:ext>
                </a:extLst>
              </a:tr>
            </a:tbl>
          </a:graphicData>
        </a:graphic>
      </p:graphicFrame>
      <p:graphicFrame>
        <p:nvGraphicFramePr>
          <p:cNvPr id="9" name="Tableau 8">
            <a:extLst>
              <a:ext uri="{FF2B5EF4-FFF2-40B4-BE49-F238E27FC236}">
                <a16:creationId xmlns:a16="http://schemas.microsoft.com/office/drawing/2014/main" id="{0662D30E-B141-4EBD-AEC8-83CE1DAE32E7}"/>
              </a:ext>
            </a:extLst>
          </p:cNvPr>
          <p:cNvGraphicFramePr>
            <a:graphicFrameLocks noGrp="1"/>
          </p:cNvGraphicFramePr>
          <p:nvPr>
            <p:extLst>
              <p:ext uri="{D42A27DB-BD31-4B8C-83A1-F6EECF244321}">
                <p14:modId xmlns:p14="http://schemas.microsoft.com/office/powerpoint/2010/main" val="2203175321"/>
              </p:ext>
            </p:extLst>
          </p:nvPr>
        </p:nvGraphicFramePr>
        <p:xfrm>
          <a:off x="8864616" y="3807708"/>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3225621809"/>
                    </a:ext>
                  </a:extLst>
                </a:gridCol>
              </a:tblGrid>
              <a:tr h="461011">
                <a:tc>
                  <a:txBody>
                    <a:bodyPr/>
                    <a:lstStyle/>
                    <a:p>
                      <a:pPr algn="ctr"/>
                      <a:r>
                        <a:rPr lang="fr-FR" dirty="0"/>
                        <a:t>CNESST</a:t>
                      </a:r>
                    </a:p>
                  </a:txBody>
                  <a:tcPr>
                    <a:solidFill>
                      <a:schemeClr val="accent6">
                        <a:lumMod val="75000"/>
                      </a:schemeClr>
                    </a:solidFill>
                  </a:tcPr>
                </a:tc>
                <a:extLst>
                  <a:ext uri="{0D108BD9-81ED-4DB2-BD59-A6C34878D82A}">
                    <a16:rowId xmlns:a16="http://schemas.microsoft.com/office/drawing/2014/main" val="1177175681"/>
                  </a:ext>
                </a:extLst>
              </a:tr>
            </a:tbl>
          </a:graphicData>
        </a:graphic>
      </p:graphicFrame>
      <p:graphicFrame>
        <p:nvGraphicFramePr>
          <p:cNvPr id="10" name="Tableau 9">
            <a:extLst>
              <a:ext uri="{FF2B5EF4-FFF2-40B4-BE49-F238E27FC236}">
                <a16:creationId xmlns:a16="http://schemas.microsoft.com/office/drawing/2014/main" id="{723416FD-3F5B-4AE2-9DE8-9EACB6D84CBD}"/>
              </a:ext>
            </a:extLst>
          </p:cNvPr>
          <p:cNvGraphicFramePr>
            <a:graphicFrameLocks noGrp="1"/>
          </p:cNvGraphicFramePr>
          <p:nvPr>
            <p:extLst>
              <p:ext uri="{D42A27DB-BD31-4B8C-83A1-F6EECF244321}">
                <p14:modId xmlns:p14="http://schemas.microsoft.com/office/powerpoint/2010/main" val="1358512909"/>
              </p:ext>
            </p:extLst>
          </p:nvPr>
        </p:nvGraphicFramePr>
        <p:xfrm>
          <a:off x="4778886" y="4471036"/>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1204624198"/>
                    </a:ext>
                  </a:extLst>
                </a:gridCol>
              </a:tblGrid>
              <a:tr h="461011">
                <a:tc>
                  <a:txBody>
                    <a:bodyPr/>
                    <a:lstStyle/>
                    <a:p>
                      <a:pPr algn="ctr"/>
                      <a:r>
                        <a:rPr lang="fr-FR" b="1" dirty="0">
                          <a:solidFill>
                            <a:schemeClr val="bg1"/>
                          </a:solidFill>
                        </a:rPr>
                        <a:t>Assurance emploi</a:t>
                      </a:r>
                    </a:p>
                  </a:txBody>
                  <a:tcPr>
                    <a:solidFill>
                      <a:srgbClr val="FF0000"/>
                    </a:solidFill>
                  </a:tcPr>
                </a:tc>
                <a:extLst>
                  <a:ext uri="{0D108BD9-81ED-4DB2-BD59-A6C34878D82A}">
                    <a16:rowId xmlns:a16="http://schemas.microsoft.com/office/drawing/2014/main" val="4049760537"/>
                  </a:ext>
                </a:extLst>
              </a:tr>
            </a:tbl>
          </a:graphicData>
        </a:graphic>
      </p:graphicFrame>
      <p:sp>
        <p:nvSpPr>
          <p:cNvPr id="13" name="Accolade fermante 12">
            <a:extLst>
              <a:ext uri="{FF2B5EF4-FFF2-40B4-BE49-F238E27FC236}">
                <a16:creationId xmlns:a16="http://schemas.microsoft.com/office/drawing/2014/main" id="{B274694D-D2C7-43FE-B08F-1F02D6AF43A0}"/>
              </a:ext>
            </a:extLst>
          </p:cNvPr>
          <p:cNvSpPr/>
          <p:nvPr/>
        </p:nvSpPr>
        <p:spPr>
          <a:xfrm rot="5400000">
            <a:off x="6167579" y="4187140"/>
            <a:ext cx="401934" cy="2198669"/>
          </a:xfrm>
          <a:prstGeom prst="rightBrace">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5" name="Accolade fermante 14">
            <a:extLst>
              <a:ext uri="{FF2B5EF4-FFF2-40B4-BE49-F238E27FC236}">
                <a16:creationId xmlns:a16="http://schemas.microsoft.com/office/drawing/2014/main" id="{F4F85FF5-8344-4274-A45D-4C67E55C0827}"/>
              </a:ext>
            </a:extLst>
          </p:cNvPr>
          <p:cNvSpPr/>
          <p:nvPr/>
        </p:nvSpPr>
        <p:spPr>
          <a:xfrm rot="5400000">
            <a:off x="10248073" y="5065425"/>
            <a:ext cx="401934" cy="442101"/>
          </a:xfrm>
          <a:prstGeom prst="rightBrace">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graphicFrame>
        <p:nvGraphicFramePr>
          <p:cNvPr id="18" name="Tableau 17">
            <a:extLst>
              <a:ext uri="{FF2B5EF4-FFF2-40B4-BE49-F238E27FC236}">
                <a16:creationId xmlns:a16="http://schemas.microsoft.com/office/drawing/2014/main" id="{B96349F2-8533-4729-AE5D-72691253F608}"/>
              </a:ext>
            </a:extLst>
          </p:cNvPr>
          <p:cNvGraphicFramePr>
            <a:graphicFrameLocks noGrp="1"/>
          </p:cNvGraphicFramePr>
          <p:nvPr>
            <p:extLst>
              <p:ext uri="{D42A27DB-BD31-4B8C-83A1-F6EECF244321}">
                <p14:modId xmlns:p14="http://schemas.microsoft.com/office/powerpoint/2010/main" val="3155238825"/>
              </p:ext>
            </p:extLst>
          </p:nvPr>
        </p:nvGraphicFramePr>
        <p:xfrm>
          <a:off x="584201" y="3822011"/>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1204624198"/>
                    </a:ext>
                  </a:extLst>
                </a:gridCol>
              </a:tblGrid>
              <a:tr h="461011">
                <a:tc>
                  <a:txBody>
                    <a:bodyPr/>
                    <a:lstStyle/>
                    <a:p>
                      <a:pPr algn="ctr"/>
                      <a:r>
                        <a:rPr lang="fr-FR" b="1" dirty="0">
                          <a:solidFill>
                            <a:schemeClr val="bg1"/>
                          </a:solidFill>
                        </a:rPr>
                        <a:t>Salaire de l’employé </a:t>
                      </a:r>
                    </a:p>
                  </a:txBody>
                  <a:tcPr>
                    <a:solidFill>
                      <a:schemeClr val="tx1"/>
                    </a:solidFill>
                  </a:tcPr>
                </a:tc>
                <a:extLst>
                  <a:ext uri="{0D108BD9-81ED-4DB2-BD59-A6C34878D82A}">
                    <a16:rowId xmlns:a16="http://schemas.microsoft.com/office/drawing/2014/main" val="4049760537"/>
                  </a:ext>
                </a:extLst>
              </a:tr>
            </a:tbl>
          </a:graphicData>
        </a:graphic>
      </p:graphicFrame>
      <p:sp>
        <p:nvSpPr>
          <p:cNvPr id="19" name="Croix 18">
            <a:extLst>
              <a:ext uri="{FF2B5EF4-FFF2-40B4-BE49-F238E27FC236}">
                <a16:creationId xmlns:a16="http://schemas.microsoft.com/office/drawing/2014/main" id="{D93247EC-4732-4DBF-B4BD-FA91EA81E44D}"/>
              </a:ext>
            </a:extLst>
          </p:cNvPr>
          <p:cNvSpPr/>
          <p:nvPr/>
        </p:nvSpPr>
        <p:spPr>
          <a:xfrm>
            <a:off x="4108260" y="3811200"/>
            <a:ext cx="366003" cy="359996"/>
          </a:xfrm>
          <a:prstGeom prst="plus">
            <a:avLst>
              <a:gd name="adj" fmla="val 4243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Croix 19">
            <a:extLst>
              <a:ext uri="{FF2B5EF4-FFF2-40B4-BE49-F238E27FC236}">
                <a16:creationId xmlns:a16="http://schemas.microsoft.com/office/drawing/2014/main" id="{09DF8FFD-72B9-4E62-A196-EC74AB1995FC}"/>
              </a:ext>
            </a:extLst>
          </p:cNvPr>
          <p:cNvSpPr/>
          <p:nvPr/>
        </p:nvSpPr>
        <p:spPr>
          <a:xfrm>
            <a:off x="8094721" y="3858215"/>
            <a:ext cx="366003" cy="359996"/>
          </a:xfrm>
          <a:prstGeom prst="plus">
            <a:avLst>
              <a:gd name="adj" fmla="val 4243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1D63ACF8-8800-4BFA-A7F9-6D7D650CA276}"/>
              </a:ext>
            </a:extLst>
          </p:cNvPr>
          <p:cNvSpPr txBox="1"/>
          <p:nvPr/>
        </p:nvSpPr>
        <p:spPr>
          <a:xfrm>
            <a:off x="6096001" y="5997136"/>
            <a:ext cx="1219200" cy="369332"/>
          </a:xfrm>
          <a:prstGeom prst="rect">
            <a:avLst/>
          </a:prstGeom>
          <a:noFill/>
        </p:spPr>
        <p:txBody>
          <a:bodyPr wrap="square" rtlCol="0">
            <a:spAutoFit/>
          </a:bodyPr>
          <a:lstStyle/>
          <a:p>
            <a:r>
              <a:rPr lang="fr-FR" dirty="0"/>
              <a:t>13%</a:t>
            </a:r>
          </a:p>
        </p:txBody>
      </p:sp>
      <p:sp>
        <p:nvSpPr>
          <p:cNvPr id="22" name="ZoneTexte 21">
            <a:extLst>
              <a:ext uri="{FF2B5EF4-FFF2-40B4-BE49-F238E27FC236}">
                <a16:creationId xmlns:a16="http://schemas.microsoft.com/office/drawing/2014/main" id="{86100501-085F-4C44-A241-8C6EF314840C}"/>
              </a:ext>
            </a:extLst>
          </p:cNvPr>
          <p:cNvSpPr txBox="1"/>
          <p:nvPr/>
        </p:nvSpPr>
        <p:spPr>
          <a:xfrm>
            <a:off x="9949703" y="5997136"/>
            <a:ext cx="1850429" cy="369332"/>
          </a:xfrm>
          <a:prstGeom prst="rect">
            <a:avLst/>
          </a:prstGeom>
          <a:noFill/>
        </p:spPr>
        <p:txBody>
          <a:bodyPr wrap="square" rtlCol="0">
            <a:spAutoFit/>
          </a:bodyPr>
          <a:lstStyle/>
          <a:p>
            <a:r>
              <a:rPr lang="fr-FR" dirty="0"/>
              <a:t>8,9%</a:t>
            </a:r>
          </a:p>
        </p:txBody>
      </p:sp>
    </p:spTree>
    <p:extLst>
      <p:ext uri="{BB962C8B-B14F-4D97-AF65-F5344CB8AC3E}">
        <p14:creationId xmlns:p14="http://schemas.microsoft.com/office/powerpoint/2010/main" val="278448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9" grpId="0" animBg="1"/>
      <p:bldP spid="20" grpId="0" animBg="1"/>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67465"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DAS – Point de vue employé</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8">
            <a:extLst>
              <a:ext uri="{FF2B5EF4-FFF2-40B4-BE49-F238E27FC236}">
                <a16:creationId xmlns:a16="http://schemas.microsoft.com/office/drawing/2014/main" id="{59404A63-6988-4C60-8C22-45F28D349DE3}"/>
              </a:ext>
            </a:extLst>
          </p:cNvPr>
          <p:cNvGraphicFramePr>
            <a:graphicFrameLocks noGrp="1"/>
          </p:cNvGraphicFramePr>
          <p:nvPr>
            <p:extLst>
              <p:ext uri="{D42A27DB-BD31-4B8C-83A1-F6EECF244321}">
                <p14:modId xmlns:p14="http://schemas.microsoft.com/office/powerpoint/2010/main" val="2163735418"/>
              </p:ext>
            </p:extLst>
          </p:nvPr>
        </p:nvGraphicFramePr>
        <p:xfrm>
          <a:off x="4778885" y="3577202"/>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3225621809"/>
                    </a:ext>
                  </a:extLst>
                </a:gridCol>
              </a:tblGrid>
              <a:tr h="461011">
                <a:tc>
                  <a:txBody>
                    <a:bodyPr/>
                    <a:lstStyle/>
                    <a:p>
                      <a:pPr algn="ctr"/>
                      <a:r>
                        <a:rPr lang="fr-FR" b="1" u="none" dirty="0">
                          <a:solidFill>
                            <a:schemeClr val="bg1"/>
                          </a:solidFill>
                        </a:rPr>
                        <a:t>Retenu d’impôts Provinciale</a:t>
                      </a:r>
                    </a:p>
                  </a:txBody>
                  <a:tcPr>
                    <a:solidFill>
                      <a:schemeClr val="accent1">
                        <a:lumMod val="50000"/>
                      </a:schemeClr>
                    </a:solidFill>
                  </a:tcPr>
                </a:tc>
                <a:extLst>
                  <a:ext uri="{0D108BD9-81ED-4DB2-BD59-A6C34878D82A}">
                    <a16:rowId xmlns:a16="http://schemas.microsoft.com/office/drawing/2014/main" val="1177175681"/>
                  </a:ext>
                </a:extLst>
              </a:tr>
            </a:tbl>
          </a:graphicData>
        </a:graphic>
      </p:graphicFrame>
      <p:graphicFrame>
        <p:nvGraphicFramePr>
          <p:cNvPr id="9" name="Tableau 8">
            <a:extLst>
              <a:ext uri="{FF2B5EF4-FFF2-40B4-BE49-F238E27FC236}">
                <a16:creationId xmlns:a16="http://schemas.microsoft.com/office/drawing/2014/main" id="{0662D30E-B141-4EBD-AEC8-83CE1DAE32E7}"/>
              </a:ext>
            </a:extLst>
          </p:cNvPr>
          <p:cNvGraphicFramePr>
            <a:graphicFrameLocks noGrp="1"/>
          </p:cNvGraphicFramePr>
          <p:nvPr>
            <p:extLst>
              <p:ext uri="{D42A27DB-BD31-4B8C-83A1-F6EECF244321}">
                <p14:modId xmlns:p14="http://schemas.microsoft.com/office/powerpoint/2010/main" val="1158539441"/>
              </p:ext>
            </p:extLst>
          </p:nvPr>
        </p:nvGraphicFramePr>
        <p:xfrm>
          <a:off x="8864616" y="3807708"/>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3225621809"/>
                    </a:ext>
                  </a:extLst>
                </a:gridCol>
              </a:tblGrid>
              <a:tr h="461011">
                <a:tc>
                  <a:txBody>
                    <a:bodyPr/>
                    <a:lstStyle/>
                    <a:p>
                      <a:pPr algn="ctr"/>
                      <a:r>
                        <a:rPr lang="fr-FR" dirty="0"/>
                        <a:t>Salaire reçu</a:t>
                      </a:r>
                    </a:p>
                  </a:txBody>
                  <a:tcPr>
                    <a:solidFill>
                      <a:schemeClr val="accent6">
                        <a:lumMod val="75000"/>
                      </a:schemeClr>
                    </a:solidFill>
                  </a:tcPr>
                </a:tc>
                <a:extLst>
                  <a:ext uri="{0D108BD9-81ED-4DB2-BD59-A6C34878D82A}">
                    <a16:rowId xmlns:a16="http://schemas.microsoft.com/office/drawing/2014/main" val="1177175681"/>
                  </a:ext>
                </a:extLst>
              </a:tr>
            </a:tbl>
          </a:graphicData>
        </a:graphic>
      </p:graphicFrame>
      <p:graphicFrame>
        <p:nvGraphicFramePr>
          <p:cNvPr id="10" name="Tableau 9">
            <a:extLst>
              <a:ext uri="{FF2B5EF4-FFF2-40B4-BE49-F238E27FC236}">
                <a16:creationId xmlns:a16="http://schemas.microsoft.com/office/drawing/2014/main" id="{723416FD-3F5B-4AE2-9DE8-9EACB6D84CBD}"/>
              </a:ext>
            </a:extLst>
          </p:cNvPr>
          <p:cNvGraphicFramePr>
            <a:graphicFrameLocks noGrp="1"/>
          </p:cNvGraphicFramePr>
          <p:nvPr>
            <p:extLst>
              <p:ext uri="{D42A27DB-BD31-4B8C-83A1-F6EECF244321}">
                <p14:modId xmlns:p14="http://schemas.microsoft.com/office/powerpoint/2010/main" val="2639707306"/>
              </p:ext>
            </p:extLst>
          </p:nvPr>
        </p:nvGraphicFramePr>
        <p:xfrm>
          <a:off x="4781276" y="4139144"/>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1204624198"/>
                    </a:ext>
                  </a:extLst>
                </a:gridCol>
              </a:tblGrid>
              <a:tr h="461011">
                <a:tc>
                  <a:txBody>
                    <a:bodyPr/>
                    <a:lstStyle/>
                    <a:p>
                      <a:pPr algn="ctr"/>
                      <a:r>
                        <a:rPr lang="fr-FR" b="1" dirty="0">
                          <a:solidFill>
                            <a:schemeClr val="bg1"/>
                          </a:solidFill>
                        </a:rPr>
                        <a:t>Retenu d’impôts fédérale</a:t>
                      </a:r>
                    </a:p>
                  </a:txBody>
                  <a:tcPr>
                    <a:solidFill>
                      <a:srgbClr val="FF0000"/>
                    </a:solidFill>
                  </a:tcPr>
                </a:tc>
                <a:extLst>
                  <a:ext uri="{0D108BD9-81ED-4DB2-BD59-A6C34878D82A}">
                    <a16:rowId xmlns:a16="http://schemas.microsoft.com/office/drawing/2014/main" val="4049760537"/>
                  </a:ext>
                </a:extLst>
              </a:tr>
            </a:tbl>
          </a:graphicData>
        </a:graphic>
      </p:graphicFrame>
      <p:graphicFrame>
        <p:nvGraphicFramePr>
          <p:cNvPr id="18" name="Tableau 17">
            <a:extLst>
              <a:ext uri="{FF2B5EF4-FFF2-40B4-BE49-F238E27FC236}">
                <a16:creationId xmlns:a16="http://schemas.microsoft.com/office/drawing/2014/main" id="{B96349F2-8533-4729-AE5D-72691253F608}"/>
              </a:ext>
            </a:extLst>
          </p:cNvPr>
          <p:cNvGraphicFramePr>
            <a:graphicFrameLocks noGrp="1"/>
          </p:cNvGraphicFramePr>
          <p:nvPr/>
        </p:nvGraphicFramePr>
        <p:xfrm>
          <a:off x="584201" y="3822011"/>
          <a:ext cx="2965661" cy="461011"/>
        </p:xfrm>
        <a:graphic>
          <a:graphicData uri="http://schemas.openxmlformats.org/drawingml/2006/table">
            <a:tbl>
              <a:tblPr firstRow="1" bandRow="1">
                <a:tableStyleId>{5C22544A-7EE6-4342-B048-85BDC9FD1C3A}</a:tableStyleId>
              </a:tblPr>
              <a:tblGrid>
                <a:gridCol w="2965661">
                  <a:extLst>
                    <a:ext uri="{9D8B030D-6E8A-4147-A177-3AD203B41FA5}">
                      <a16:colId xmlns:a16="http://schemas.microsoft.com/office/drawing/2014/main" val="1204624198"/>
                    </a:ext>
                  </a:extLst>
                </a:gridCol>
              </a:tblGrid>
              <a:tr h="461011">
                <a:tc>
                  <a:txBody>
                    <a:bodyPr/>
                    <a:lstStyle/>
                    <a:p>
                      <a:pPr algn="ctr"/>
                      <a:r>
                        <a:rPr lang="fr-FR" b="1" dirty="0">
                          <a:solidFill>
                            <a:schemeClr val="bg1"/>
                          </a:solidFill>
                        </a:rPr>
                        <a:t>Salaire de l’employé </a:t>
                      </a:r>
                    </a:p>
                  </a:txBody>
                  <a:tcPr>
                    <a:solidFill>
                      <a:schemeClr val="tx1"/>
                    </a:solidFill>
                  </a:tcPr>
                </a:tc>
                <a:extLst>
                  <a:ext uri="{0D108BD9-81ED-4DB2-BD59-A6C34878D82A}">
                    <a16:rowId xmlns:a16="http://schemas.microsoft.com/office/drawing/2014/main" val="4049760537"/>
                  </a:ext>
                </a:extLst>
              </a:tr>
            </a:tbl>
          </a:graphicData>
        </a:graphic>
      </p:graphicFrame>
      <p:sp>
        <p:nvSpPr>
          <p:cNvPr id="3" name="Rectangle 2">
            <a:extLst>
              <a:ext uri="{FF2B5EF4-FFF2-40B4-BE49-F238E27FC236}">
                <a16:creationId xmlns:a16="http://schemas.microsoft.com/office/drawing/2014/main" id="{BCCB9AF4-D529-4D08-B0B6-2D469FEEF0CA}"/>
              </a:ext>
            </a:extLst>
          </p:cNvPr>
          <p:cNvSpPr/>
          <p:nvPr/>
        </p:nvSpPr>
        <p:spPr>
          <a:xfrm>
            <a:off x="3882869" y="3959051"/>
            <a:ext cx="671963" cy="1008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t égal à 4">
            <a:extLst>
              <a:ext uri="{FF2B5EF4-FFF2-40B4-BE49-F238E27FC236}">
                <a16:creationId xmlns:a16="http://schemas.microsoft.com/office/drawing/2014/main" id="{3DFCD974-B422-40AF-8C5B-462DA9BCFF5D}"/>
              </a:ext>
            </a:extLst>
          </p:cNvPr>
          <p:cNvSpPr/>
          <p:nvPr/>
        </p:nvSpPr>
        <p:spPr>
          <a:xfrm>
            <a:off x="7867689" y="3807708"/>
            <a:ext cx="873784" cy="461011"/>
          </a:xfrm>
          <a:prstGeom prst="mathEqual">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00449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373176" y="345145"/>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DAS – Décortiquer le salaire</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12" name="Rectangle 11">
            <a:extLst>
              <a:ext uri="{FF2B5EF4-FFF2-40B4-BE49-F238E27FC236}">
                <a16:creationId xmlns:a16="http://schemas.microsoft.com/office/drawing/2014/main" id="{2FCA5091-F21D-4AF1-A3B0-86A6A3C9705D}"/>
              </a:ext>
            </a:extLst>
          </p:cNvPr>
          <p:cNvSpPr/>
          <p:nvPr/>
        </p:nvSpPr>
        <p:spPr>
          <a:xfrm>
            <a:off x="2580429" y="2592458"/>
            <a:ext cx="4401566" cy="741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20$/heure</a:t>
            </a:r>
          </a:p>
        </p:txBody>
      </p:sp>
      <p:cxnSp>
        <p:nvCxnSpPr>
          <p:cNvPr id="14" name="Connecteur droit 13">
            <a:extLst>
              <a:ext uri="{FF2B5EF4-FFF2-40B4-BE49-F238E27FC236}">
                <a16:creationId xmlns:a16="http://schemas.microsoft.com/office/drawing/2014/main" id="{9E205B84-82AF-423F-9CA3-F3A1E1A9CFF3}"/>
              </a:ext>
            </a:extLst>
          </p:cNvPr>
          <p:cNvCxnSpPr>
            <a:cxnSpLocks/>
          </p:cNvCxnSpPr>
          <p:nvPr/>
        </p:nvCxnSpPr>
        <p:spPr>
          <a:xfrm>
            <a:off x="6259073" y="2257383"/>
            <a:ext cx="0" cy="141137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7" name="Tableau 8">
            <a:extLst>
              <a:ext uri="{FF2B5EF4-FFF2-40B4-BE49-F238E27FC236}">
                <a16:creationId xmlns:a16="http://schemas.microsoft.com/office/drawing/2014/main" id="{B71778DB-DD87-425B-B3D4-62516F3A98DA}"/>
              </a:ext>
            </a:extLst>
          </p:cNvPr>
          <p:cNvGraphicFramePr>
            <a:graphicFrameLocks noGrp="1"/>
          </p:cNvGraphicFramePr>
          <p:nvPr>
            <p:extLst>
              <p:ext uri="{D42A27DB-BD31-4B8C-83A1-F6EECF244321}">
                <p14:modId xmlns:p14="http://schemas.microsoft.com/office/powerpoint/2010/main" val="3999400174"/>
              </p:ext>
            </p:extLst>
          </p:nvPr>
        </p:nvGraphicFramePr>
        <p:xfrm>
          <a:off x="4331616" y="4675784"/>
          <a:ext cx="2410052" cy="386798"/>
        </p:xfrm>
        <a:graphic>
          <a:graphicData uri="http://schemas.openxmlformats.org/drawingml/2006/table">
            <a:tbl>
              <a:tblPr firstRow="1" bandRow="1">
                <a:tableStyleId>{5C22544A-7EE6-4342-B048-85BDC9FD1C3A}</a:tableStyleId>
              </a:tblPr>
              <a:tblGrid>
                <a:gridCol w="2410052">
                  <a:extLst>
                    <a:ext uri="{9D8B030D-6E8A-4147-A177-3AD203B41FA5}">
                      <a16:colId xmlns:a16="http://schemas.microsoft.com/office/drawing/2014/main" val="3225621809"/>
                    </a:ext>
                  </a:extLst>
                </a:gridCol>
              </a:tblGrid>
              <a:tr h="386798">
                <a:tc>
                  <a:txBody>
                    <a:bodyPr/>
                    <a:lstStyle/>
                    <a:p>
                      <a:pPr algn="ctr"/>
                      <a:r>
                        <a:rPr lang="fr-FR" sz="1400" b="1" u="none" dirty="0">
                          <a:solidFill>
                            <a:schemeClr val="bg1"/>
                          </a:solidFill>
                        </a:rPr>
                        <a:t>Retenu d’impôts Provinciale</a:t>
                      </a:r>
                    </a:p>
                  </a:txBody>
                  <a:tcPr>
                    <a:solidFill>
                      <a:schemeClr val="accent1">
                        <a:lumMod val="50000"/>
                      </a:schemeClr>
                    </a:solidFill>
                  </a:tcPr>
                </a:tc>
                <a:extLst>
                  <a:ext uri="{0D108BD9-81ED-4DB2-BD59-A6C34878D82A}">
                    <a16:rowId xmlns:a16="http://schemas.microsoft.com/office/drawing/2014/main" val="1177175681"/>
                  </a:ext>
                </a:extLst>
              </a:tr>
            </a:tbl>
          </a:graphicData>
        </a:graphic>
      </p:graphicFrame>
      <p:graphicFrame>
        <p:nvGraphicFramePr>
          <p:cNvPr id="19" name="Tableau 18">
            <a:extLst>
              <a:ext uri="{FF2B5EF4-FFF2-40B4-BE49-F238E27FC236}">
                <a16:creationId xmlns:a16="http://schemas.microsoft.com/office/drawing/2014/main" id="{361124FD-E33A-408C-BF63-4D1AE381A584}"/>
              </a:ext>
            </a:extLst>
          </p:cNvPr>
          <p:cNvGraphicFramePr>
            <a:graphicFrameLocks noGrp="1"/>
          </p:cNvGraphicFramePr>
          <p:nvPr>
            <p:extLst>
              <p:ext uri="{D42A27DB-BD31-4B8C-83A1-F6EECF244321}">
                <p14:modId xmlns:p14="http://schemas.microsoft.com/office/powerpoint/2010/main" val="2025807967"/>
              </p:ext>
            </p:extLst>
          </p:nvPr>
        </p:nvGraphicFramePr>
        <p:xfrm>
          <a:off x="4331616" y="5198084"/>
          <a:ext cx="2410053" cy="386798"/>
        </p:xfrm>
        <a:graphic>
          <a:graphicData uri="http://schemas.openxmlformats.org/drawingml/2006/table">
            <a:tbl>
              <a:tblPr firstRow="1" bandRow="1">
                <a:tableStyleId>{5C22544A-7EE6-4342-B048-85BDC9FD1C3A}</a:tableStyleId>
              </a:tblPr>
              <a:tblGrid>
                <a:gridCol w="2410053">
                  <a:extLst>
                    <a:ext uri="{9D8B030D-6E8A-4147-A177-3AD203B41FA5}">
                      <a16:colId xmlns:a16="http://schemas.microsoft.com/office/drawing/2014/main" val="1204624198"/>
                    </a:ext>
                  </a:extLst>
                </a:gridCol>
              </a:tblGrid>
              <a:tr h="386798">
                <a:tc>
                  <a:txBody>
                    <a:bodyPr/>
                    <a:lstStyle/>
                    <a:p>
                      <a:pPr algn="ctr"/>
                      <a:r>
                        <a:rPr lang="fr-FR" sz="1400" b="1" dirty="0">
                          <a:solidFill>
                            <a:schemeClr val="bg1"/>
                          </a:solidFill>
                        </a:rPr>
                        <a:t>Retenu d’impôts fédérale</a:t>
                      </a:r>
                    </a:p>
                  </a:txBody>
                  <a:tcPr>
                    <a:solidFill>
                      <a:srgbClr val="FF0000"/>
                    </a:solidFill>
                  </a:tcPr>
                </a:tc>
                <a:extLst>
                  <a:ext uri="{0D108BD9-81ED-4DB2-BD59-A6C34878D82A}">
                    <a16:rowId xmlns:a16="http://schemas.microsoft.com/office/drawing/2014/main" val="4049760537"/>
                  </a:ext>
                </a:extLst>
              </a:tr>
            </a:tbl>
          </a:graphicData>
        </a:graphic>
      </p:graphicFrame>
      <p:cxnSp>
        <p:nvCxnSpPr>
          <p:cNvPr id="20" name="Connecteur droit avec flèche 19">
            <a:extLst>
              <a:ext uri="{FF2B5EF4-FFF2-40B4-BE49-F238E27FC236}">
                <a16:creationId xmlns:a16="http://schemas.microsoft.com/office/drawing/2014/main" id="{193A5111-CA1F-44E5-A18D-4108E542CEC2}"/>
              </a:ext>
            </a:extLst>
          </p:cNvPr>
          <p:cNvCxnSpPr>
            <a:cxnSpLocks/>
          </p:cNvCxnSpPr>
          <p:nvPr/>
        </p:nvCxnSpPr>
        <p:spPr>
          <a:xfrm flipH="1">
            <a:off x="6259073" y="3668762"/>
            <a:ext cx="352742" cy="90323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66FAA2D-04A4-4851-8C29-3AFD014D08B4}"/>
              </a:ext>
            </a:extLst>
          </p:cNvPr>
          <p:cNvSpPr/>
          <p:nvPr/>
        </p:nvSpPr>
        <p:spPr>
          <a:xfrm>
            <a:off x="7043316" y="2605783"/>
            <a:ext cx="1486762" cy="741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DAS</a:t>
            </a:r>
          </a:p>
        </p:txBody>
      </p:sp>
      <p:cxnSp>
        <p:nvCxnSpPr>
          <p:cNvPr id="22" name="Connecteur droit avec flèche 21">
            <a:extLst>
              <a:ext uri="{FF2B5EF4-FFF2-40B4-BE49-F238E27FC236}">
                <a16:creationId xmlns:a16="http://schemas.microsoft.com/office/drawing/2014/main" id="{3FA3BB01-11E8-48CE-8A7A-ED99CF1CD4D2}"/>
              </a:ext>
            </a:extLst>
          </p:cNvPr>
          <p:cNvCxnSpPr>
            <a:cxnSpLocks/>
          </p:cNvCxnSpPr>
          <p:nvPr/>
        </p:nvCxnSpPr>
        <p:spPr>
          <a:xfrm>
            <a:off x="7928149" y="3539244"/>
            <a:ext cx="341644" cy="92222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Tableau 8">
            <a:extLst>
              <a:ext uri="{FF2B5EF4-FFF2-40B4-BE49-F238E27FC236}">
                <a16:creationId xmlns:a16="http://schemas.microsoft.com/office/drawing/2014/main" id="{9F3A34E3-DA7F-4BC7-8E5B-593F97C24115}"/>
              </a:ext>
            </a:extLst>
          </p:cNvPr>
          <p:cNvGraphicFramePr>
            <a:graphicFrameLocks noGrp="1"/>
          </p:cNvGraphicFramePr>
          <p:nvPr>
            <p:extLst>
              <p:ext uri="{D42A27DB-BD31-4B8C-83A1-F6EECF244321}">
                <p14:modId xmlns:p14="http://schemas.microsoft.com/office/powerpoint/2010/main" val="3593705898"/>
              </p:ext>
            </p:extLst>
          </p:nvPr>
        </p:nvGraphicFramePr>
        <p:xfrm>
          <a:off x="7670799" y="4675784"/>
          <a:ext cx="3023025" cy="1219200"/>
        </p:xfrm>
        <a:graphic>
          <a:graphicData uri="http://schemas.openxmlformats.org/drawingml/2006/table">
            <a:tbl>
              <a:tblPr firstRow="1" bandRow="1">
                <a:tableStyleId>{5C22544A-7EE6-4342-B048-85BDC9FD1C3A}</a:tableStyleId>
              </a:tblPr>
              <a:tblGrid>
                <a:gridCol w="3023025">
                  <a:extLst>
                    <a:ext uri="{9D8B030D-6E8A-4147-A177-3AD203B41FA5}">
                      <a16:colId xmlns:a16="http://schemas.microsoft.com/office/drawing/2014/main" val="3225621809"/>
                    </a:ext>
                  </a:extLst>
                </a:gridCol>
              </a:tblGrid>
              <a:tr h="257214">
                <a:tc>
                  <a:txBody>
                    <a:bodyPr/>
                    <a:lstStyle/>
                    <a:p>
                      <a:pPr algn="ctr"/>
                      <a:r>
                        <a:rPr lang="fr-FR" sz="1400" b="1" u="sng" dirty="0">
                          <a:solidFill>
                            <a:schemeClr val="bg1"/>
                          </a:solidFill>
                        </a:rPr>
                        <a:t>Retenu à la source</a:t>
                      </a:r>
                    </a:p>
                  </a:txBody>
                  <a:tcPr>
                    <a:solidFill>
                      <a:schemeClr val="accent1">
                        <a:lumMod val="50000"/>
                      </a:schemeClr>
                    </a:solidFill>
                  </a:tcPr>
                </a:tc>
                <a:extLst>
                  <a:ext uri="{0D108BD9-81ED-4DB2-BD59-A6C34878D82A}">
                    <a16:rowId xmlns:a16="http://schemas.microsoft.com/office/drawing/2014/main" val="1177175681"/>
                  </a:ext>
                </a:extLst>
              </a:tr>
              <a:tr h="257214">
                <a:tc>
                  <a:txBody>
                    <a:bodyPr/>
                    <a:lstStyle/>
                    <a:p>
                      <a:pPr algn="ctr"/>
                      <a:r>
                        <a:rPr lang="fr-FR" sz="1400" b="1" dirty="0">
                          <a:solidFill>
                            <a:schemeClr val="bg1"/>
                          </a:solidFill>
                        </a:rPr>
                        <a:t>RRQ </a:t>
                      </a:r>
                    </a:p>
                  </a:txBody>
                  <a:tcPr>
                    <a:solidFill>
                      <a:schemeClr val="accent1">
                        <a:lumMod val="50000"/>
                      </a:schemeClr>
                    </a:solidFill>
                  </a:tcPr>
                </a:tc>
                <a:extLst>
                  <a:ext uri="{0D108BD9-81ED-4DB2-BD59-A6C34878D82A}">
                    <a16:rowId xmlns:a16="http://schemas.microsoft.com/office/drawing/2014/main" val="3885393346"/>
                  </a:ext>
                </a:extLst>
              </a:tr>
              <a:tr h="257214">
                <a:tc>
                  <a:txBody>
                    <a:bodyPr/>
                    <a:lstStyle/>
                    <a:p>
                      <a:pPr algn="ctr"/>
                      <a:r>
                        <a:rPr lang="fr-FR" sz="1400" b="1" dirty="0">
                          <a:solidFill>
                            <a:schemeClr val="bg1"/>
                          </a:solidFill>
                        </a:rPr>
                        <a:t>FSS</a:t>
                      </a:r>
                    </a:p>
                  </a:txBody>
                  <a:tcPr>
                    <a:solidFill>
                      <a:schemeClr val="accent1">
                        <a:lumMod val="50000"/>
                      </a:schemeClr>
                    </a:solidFill>
                  </a:tcPr>
                </a:tc>
                <a:extLst>
                  <a:ext uri="{0D108BD9-81ED-4DB2-BD59-A6C34878D82A}">
                    <a16:rowId xmlns:a16="http://schemas.microsoft.com/office/drawing/2014/main" val="1777818025"/>
                  </a:ext>
                </a:extLst>
              </a:tr>
              <a:tr h="257214">
                <a:tc>
                  <a:txBody>
                    <a:bodyPr/>
                    <a:lstStyle/>
                    <a:p>
                      <a:pPr algn="ctr"/>
                      <a:r>
                        <a:rPr lang="fr-FR" sz="1400" b="1" dirty="0">
                          <a:solidFill>
                            <a:schemeClr val="bg1"/>
                          </a:solidFill>
                        </a:rPr>
                        <a:t>RQAP</a:t>
                      </a:r>
                    </a:p>
                  </a:txBody>
                  <a:tcPr>
                    <a:solidFill>
                      <a:schemeClr val="accent1">
                        <a:lumMod val="50000"/>
                      </a:schemeClr>
                    </a:solidFill>
                  </a:tcPr>
                </a:tc>
                <a:extLst>
                  <a:ext uri="{0D108BD9-81ED-4DB2-BD59-A6C34878D82A}">
                    <a16:rowId xmlns:a16="http://schemas.microsoft.com/office/drawing/2014/main" val="2866142127"/>
                  </a:ext>
                </a:extLst>
              </a:tr>
            </a:tbl>
          </a:graphicData>
        </a:graphic>
      </p:graphicFrame>
      <p:graphicFrame>
        <p:nvGraphicFramePr>
          <p:cNvPr id="30" name="Tableau 29">
            <a:extLst>
              <a:ext uri="{FF2B5EF4-FFF2-40B4-BE49-F238E27FC236}">
                <a16:creationId xmlns:a16="http://schemas.microsoft.com/office/drawing/2014/main" id="{65EA88D3-B08D-4228-8377-CC95334D1BE3}"/>
              </a:ext>
            </a:extLst>
          </p:cNvPr>
          <p:cNvGraphicFramePr>
            <a:graphicFrameLocks noGrp="1"/>
          </p:cNvGraphicFramePr>
          <p:nvPr>
            <p:extLst>
              <p:ext uri="{D42A27DB-BD31-4B8C-83A1-F6EECF244321}">
                <p14:modId xmlns:p14="http://schemas.microsoft.com/office/powerpoint/2010/main" val="3068702179"/>
              </p:ext>
            </p:extLst>
          </p:nvPr>
        </p:nvGraphicFramePr>
        <p:xfrm>
          <a:off x="7670799" y="6287978"/>
          <a:ext cx="3023025" cy="304801"/>
        </p:xfrm>
        <a:graphic>
          <a:graphicData uri="http://schemas.openxmlformats.org/drawingml/2006/table">
            <a:tbl>
              <a:tblPr firstRow="1" bandRow="1">
                <a:tableStyleId>{5C22544A-7EE6-4342-B048-85BDC9FD1C3A}</a:tableStyleId>
              </a:tblPr>
              <a:tblGrid>
                <a:gridCol w="3023025">
                  <a:extLst>
                    <a:ext uri="{9D8B030D-6E8A-4147-A177-3AD203B41FA5}">
                      <a16:colId xmlns:a16="http://schemas.microsoft.com/office/drawing/2014/main" val="3225621809"/>
                    </a:ext>
                  </a:extLst>
                </a:gridCol>
              </a:tblGrid>
              <a:tr h="304801">
                <a:tc>
                  <a:txBody>
                    <a:bodyPr/>
                    <a:lstStyle/>
                    <a:p>
                      <a:pPr algn="ctr"/>
                      <a:r>
                        <a:rPr lang="fr-FR" sz="1400" dirty="0"/>
                        <a:t>CNESST</a:t>
                      </a:r>
                    </a:p>
                  </a:txBody>
                  <a:tcPr>
                    <a:solidFill>
                      <a:schemeClr val="accent6">
                        <a:lumMod val="75000"/>
                      </a:schemeClr>
                    </a:solidFill>
                  </a:tcPr>
                </a:tc>
                <a:extLst>
                  <a:ext uri="{0D108BD9-81ED-4DB2-BD59-A6C34878D82A}">
                    <a16:rowId xmlns:a16="http://schemas.microsoft.com/office/drawing/2014/main" val="1177175681"/>
                  </a:ext>
                </a:extLst>
              </a:tr>
            </a:tbl>
          </a:graphicData>
        </a:graphic>
      </p:graphicFrame>
      <p:graphicFrame>
        <p:nvGraphicFramePr>
          <p:cNvPr id="31" name="Tableau 30">
            <a:extLst>
              <a:ext uri="{FF2B5EF4-FFF2-40B4-BE49-F238E27FC236}">
                <a16:creationId xmlns:a16="http://schemas.microsoft.com/office/drawing/2014/main" id="{94B77A0C-3337-4FE9-98E7-E3492D5842DF}"/>
              </a:ext>
            </a:extLst>
          </p:cNvPr>
          <p:cNvGraphicFramePr>
            <a:graphicFrameLocks noGrp="1"/>
          </p:cNvGraphicFramePr>
          <p:nvPr>
            <p:extLst>
              <p:ext uri="{D42A27DB-BD31-4B8C-83A1-F6EECF244321}">
                <p14:modId xmlns:p14="http://schemas.microsoft.com/office/powerpoint/2010/main" val="149246740"/>
              </p:ext>
            </p:extLst>
          </p:nvPr>
        </p:nvGraphicFramePr>
        <p:xfrm>
          <a:off x="7670799" y="5939081"/>
          <a:ext cx="3023025" cy="304800"/>
        </p:xfrm>
        <a:graphic>
          <a:graphicData uri="http://schemas.openxmlformats.org/drawingml/2006/table">
            <a:tbl>
              <a:tblPr firstRow="1" bandRow="1">
                <a:tableStyleId>{5C22544A-7EE6-4342-B048-85BDC9FD1C3A}</a:tableStyleId>
              </a:tblPr>
              <a:tblGrid>
                <a:gridCol w="3023025">
                  <a:extLst>
                    <a:ext uri="{9D8B030D-6E8A-4147-A177-3AD203B41FA5}">
                      <a16:colId xmlns:a16="http://schemas.microsoft.com/office/drawing/2014/main" val="1204624198"/>
                    </a:ext>
                  </a:extLst>
                </a:gridCol>
              </a:tblGrid>
              <a:tr h="268996">
                <a:tc>
                  <a:txBody>
                    <a:bodyPr/>
                    <a:lstStyle/>
                    <a:p>
                      <a:pPr algn="ctr"/>
                      <a:r>
                        <a:rPr lang="fr-FR" sz="1400" b="1" dirty="0">
                          <a:solidFill>
                            <a:schemeClr val="bg1"/>
                          </a:solidFill>
                        </a:rPr>
                        <a:t>Assurance emploi</a:t>
                      </a:r>
                    </a:p>
                  </a:txBody>
                  <a:tcPr>
                    <a:solidFill>
                      <a:srgbClr val="FF0000"/>
                    </a:solidFill>
                  </a:tcPr>
                </a:tc>
                <a:extLst>
                  <a:ext uri="{0D108BD9-81ED-4DB2-BD59-A6C34878D82A}">
                    <a16:rowId xmlns:a16="http://schemas.microsoft.com/office/drawing/2014/main" val="4049760537"/>
                  </a:ext>
                </a:extLst>
              </a:tr>
            </a:tbl>
          </a:graphicData>
        </a:graphic>
      </p:graphicFrame>
      <p:cxnSp>
        <p:nvCxnSpPr>
          <p:cNvPr id="35" name="Connecteur droit 34">
            <a:extLst>
              <a:ext uri="{FF2B5EF4-FFF2-40B4-BE49-F238E27FC236}">
                <a16:creationId xmlns:a16="http://schemas.microsoft.com/office/drawing/2014/main" id="{B3D38924-49AC-48A7-A1B3-834ED07AA976}"/>
              </a:ext>
            </a:extLst>
          </p:cNvPr>
          <p:cNvCxnSpPr>
            <a:cxnSpLocks/>
          </p:cNvCxnSpPr>
          <p:nvPr/>
        </p:nvCxnSpPr>
        <p:spPr>
          <a:xfrm>
            <a:off x="7023220" y="2257383"/>
            <a:ext cx="0" cy="141137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Accolade fermante 35">
            <a:extLst>
              <a:ext uri="{FF2B5EF4-FFF2-40B4-BE49-F238E27FC236}">
                <a16:creationId xmlns:a16="http://schemas.microsoft.com/office/drawing/2014/main" id="{00708C00-B57C-430A-85B8-297BEF870EC4}"/>
              </a:ext>
            </a:extLst>
          </p:cNvPr>
          <p:cNvSpPr/>
          <p:nvPr/>
        </p:nvSpPr>
        <p:spPr>
          <a:xfrm rot="16200000">
            <a:off x="5451513" y="-834773"/>
            <a:ext cx="401934" cy="6144103"/>
          </a:xfrm>
          <a:prstGeom prst="rightBrace">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7" name="ZoneTexte 36">
            <a:extLst>
              <a:ext uri="{FF2B5EF4-FFF2-40B4-BE49-F238E27FC236}">
                <a16:creationId xmlns:a16="http://schemas.microsoft.com/office/drawing/2014/main" id="{32007594-CB10-4067-ACF0-8333EF067980}"/>
              </a:ext>
            </a:extLst>
          </p:cNvPr>
          <p:cNvSpPr txBox="1"/>
          <p:nvPr/>
        </p:nvSpPr>
        <p:spPr>
          <a:xfrm>
            <a:off x="5256540" y="1245749"/>
            <a:ext cx="2124640" cy="369332"/>
          </a:xfrm>
          <a:prstGeom prst="rect">
            <a:avLst/>
          </a:prstGeom>
          <a:noFill/>
        </p:spPr>
        <p:txBody>
          <a:bodyPr wrap="square" rtlCol="0">
            <a:spAutoFit/>
          </a:bodyPr>
          <a:lstStyle/>
          <a:p>
            <a:r>
              <a:rPr lang="fr-FR" dirty="0"/>
              <a:t>24,38$</a:t>
            </a:r>
          </a:p>
        </p:txBody>
      </p:sp>
      <p:sp>
        <p:nvSpPr>
          <p:cNvPr id="38" name="Ellipse 37">
            <a:extLst>
              <a:ext uri="{FF2B5EF4-FFF2-40B4-BE49-F238E27FC236}">
                <a16:creationId xmlns:a16="http://schemas.microsoft.com/office/drawing/2014/main" id="{1B7DF048-CFB9-4CAD-B807-0406CDED981C}"/>
              </a:ext>
            </a:extLst>
          </p:cNvPr>
          <p:cNvSpPr/>
          <p:nvPr/>
        </p:nvSpPr>
        <p:spPr>
          <a:xfrm>
            <a:off x="3222901" y="3712859"/>
            <a:ext cx="8588096" cy="314514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3554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6" grpId="0" animBg="1"/>
      <p:bldP spid="37" grpId="0"/>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124639" y="376189"/>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DAS - Exercice</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ZoneTexte 2">
            <a:extLst>
              <a:ext uri="{FF2B5EF4-FFF2-40B4-BE49-F238E27FC236}">
                <a16:creationId xmlns:a16="http://schemas.microsoft.com/office/drawing/2014/main" id="{836478C9-BA1C-4D7C-B5A6-30F05BA1FB05}"/>
              </a:ext>
            </a:extLst>
          </p:cNvPr>
          <p:cNvSpPr txBox="1"/>
          <p:nvPr/>
        </p:nvSpPr>
        <p:spPr>
          <a:xfrm>
            <a:off x="2085100" y="1422400"/>
            <a:ext cx="9537958" cy="5355312"/>
          </a:xfrm>
          <a:prstGeom prst="rect">
            <a:avLst/>
          </a:prstGeom>
          <a:noFill/>
        </p:spPr>
        <p:txBody>
          <a:bodyPr wrap="square" rtlCol="0">
            <a:spAutoFit/>
          </a:bodyPr>
          <a:lstStyle/>
          <a:p>
            <a:r>
              <a:rPr lang="fr-FR" dirty="0"/>
              <a:t>1. Un employé travaille chez </a:t>
            </a:r>
            <a:r>
              <a:rPr lang="fr-FR" dirty="0" err="1"/>
              <a:t>Mcdo</a:t>
            </a:r>
            <a:r>
              <a:rPr lang="fr-FR" dirty="0"/>
              <a:t> et reçoit un salaire horaire de 14$/h. Combien en coûte-t ’il à l’entreprise ? </a:t>
            </a:r>
          </a:p>
          <a:p>
            <a:endParaRPr lang="fr-FR" dirty="0"/>
          </a:p>
          <a:p>
            <a:r>
              <a:rPr lang="fr-FR" dirty="0"/>
              <a:t>Réponse : 17,08$</a:t>
            </a:r>
          </a:p>
          <a:p>
            <a:endParaRPr lang="fr-FR" dirty="0"/>
          </a:p>
          <a:p>
            <a:r>
              <a:rPr lang="fr-FR" dirty="0"/>
              <a:t>2. Un employé que vous payez 17$/heure veut se faire augmenter à 20$/heure. Si vous acceptez d’augmenter son salaire, de combien coute réellement cette augmentation (par heure)?</a:t>
            </a:r>
          </a:p>
          <a:p>
            <a:endParaRPr lang="fr-FR" dirty="0"/>
          </a:p>
          <a:p>
            <a:r>
              <a:rPr lang="fr-FR" dirty="0"/>
              <a:t>Réponse : 3,65$</a:t>
            </a:r>
          </a:p>
          <a:p>
            <a:endParaRPr lang="fr-FR" dirty="0"/>
          </a:p>
          <a:p>
            <a:r>
              <a:rPr lang="fr-FR" dirty="0"/>
              <a:t>3. Eliott choisit de remettre au gouvernement les DAS mensuellement. Il réalise au mois de Septembre qu’il n'a pas payé ses DAS de mai, juin, juin et août. Quelle sera sa pénalité ?</a:t>
            </a:r>
          </a:p>
          <a:p>
            <a:endParaRPr lang="fr-FR" dirty="0"/>
          </a:p>
          <a:p>
            <a:r>
              <a:rPr lang="fr-FR" dirty="0"/>
              <a:t>Réponse : À peu près 5000$ </a:t>
            </a:r>
          </a:p>
          <a:p>
            <a:endParaRPr lang="fr-FR" dirty="0"/>
          </a:p>
          <a:p>
            <a:r>
              <a:rPr lang="fr-FR" dirty="0"/>
              <a:t>4. Un de vos employés travaille à 15$/heure. Il a travaillé 80 heures lors des deux dernières semaines.  Il reçoit sa première paie et vous appelle car il s’attendait à recevoir 1200$. Il a plutôt reçu 1080$. Pourquoi ?</a:t>
            </a:r>
          </a:p>
          <a:p>
            <a:endParaRPr lang="fr-FR" dirty="0"/>
          </a:p>
        </p:txBody>
      </p:sp>
    </p:spTree>
    <p:extLst>
      <p:ext uri="{BB962C8B-B14F-4D97-AF65-F5344CB8AC3E}">
        <p14:creationId xmlns:p14="http://schemas.microsoft.com/office/powerpoint/2010/main" val="2902526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ZoneTexte 2">
            <a:extLst>
              <a:ext uri="{FF2B5EF4-FFF2-40B4-BE49-F238E27FC236}">
                <a16:creationId xmlns:a16="http://schemas.microsoft.com/office/drawing/2014/main" id="{C7FA3E12-DAA8-47FA-9E22-F64E87CF70BB}"/>
              </a:ext>
            </a:extLst>
          </p:cNvPr>
          <p:cNvSpPr txBox="1"/>
          <p:nvPr/>
        </p:nvSpPr>
        <p:spPr>
          <a:xfrm>
            <a:off x="2005724" y="1692021"/>
            <a:ext cx="8394320" cy="4093428"/>
          </a:xfrm>
          <a:prstGeom prst="rect">
            <a:avLst/>
          </a:prstGeom>
          <a:noFill/>
        </p:spPr>
        <p:txBody>
          <a:bodyPr wrap="square" rtlCol="0">
            <a:spAutoFit/>
          </a:bodyPr>
          <a:lstStyle/>
          <a:p>
            <a:r>
              <a:rPr lang="fr-FR" sz="2000" dirty="0"/>
              <a:t>Qu’est qu’une taxe ?</a:t>
            </a:r>
          </a:p>
          <a:p>
            <a:endParaRPr lang="fr-FR" sz="2000" dirty="0">
              <a:sym typeface="Wingdings" panose="05000000000000000000" pitchFamily="2" charset="2"/>
            </a:endParaRPr>
          </a:p>
          <a:p>
            <a:r>
              <a:rPr lang="fr-FR" sz="2000" dirty="0">
                <a:sym typeface="Wingdings" panose="05000000000000000000" pitchFamily="2" charset="2"/>
              </a:rPr>
              <a:t>À quoi ça sert ?</a:t>
            </a:r>
          </a:p>
          <a:p>
            <a:endParaRPr lang="fr-FR" sz="2000" dirty="0">
              <a:sym typeface="Wingdings" panose="05000000000000000000" pitchFamily="2" charset="2"/>
            </a:endParaRPr>
          </a:p>
          <a:p>
            <a:r>
              <a:rPr lang="fr-FR" sz="2000" dirty="0">
                <a:sym typeface="Wingdings" panose="05000000000000000000" pitchFamily="2" charset="2"/>
              </a:rPr>
              <a:t>Qui en a déjà payé ?</a:t>
            </a:r>
          </a:p>
          <a:p>
            <a:endParaRPr lang="fr-FR" sz="2000" dirty="0">
              <a:sym typeface="Wingdings" panose="05000000000000000000" pitchFamily="2" charset="2"/>
            </a:endParaRPr>
          </a:p>
          <a:p>
            <a:r>
              <a:rPr lang="fr-FR" sz="2000" dirty="0">
                <a:sym typeface="Wingdings" panose="05000000000000000000" pitchFamily="2" charset="2"/>
              </a:rPr>
              <a:t>Qui en a déjà récolté ?</a:t>
            </a:r>
          </a:p>
          <a:p>
            <a:r>
              <a:rPr lang="fr-FR" sz="2000" dirty="0">
                <a:sym typeface="Wingdings" panose="05000000000000000000" pitchFamily="2" charset="2"/>
              </a:rPr>
              <a:t>                                         </a:t>
            </a:r>
          </a:p>
          <a:p>
            <a:r>
              <a:rPr lang="fr-FR" sz="2000" dirty="0">
                <a:sym typeface="Wingdings" panose="05000000000000000000" pitchFamily="2" charset="2"/>
              </a:rPr>
              <a:t>                                            57487,50$</a:t>
            </a:r>
          </a:p>
          <a:p>
            <a:endParaRPr lang="fr-FR" sz="2000" dirty="0">
              <a:sym typeface="Wingdings" panose="05000000000000000000" pitchFamily="2" charset="2"/>
            </a:endParaRPr>
          </a:p>
          <a:p>
            <a:endParaRPr lang="fr-FR" sz="2000" dirty="0">
              <a:sym typeface="Wingdings" panose="05000000000000000000" pitchFamily="2" charset="2"/>
            </a:endParaRPr>
          </a:p>
          <a:p>
            <a:endParaRPr lang="fr-FR" sz="2000" dirty="0">
              <a:sym typeface="Wingdings" panose="05000000000000000000" pitchFamily="2" charset="2"/>
            </a:endParaRPr>
          </a:p>
          <a:p>
            <a:endParaRPr lang="fr-FR" sz="2000" dirty="0"/>
          </a:p>
        </p:txBody>
      </p:sp>
      <p:pic>
        <p:nvPicPr>
          <p:cNvPr id="12" name="Image 11" descr="Une image contenant texte, tableau blanc&#10;&#10;Description générée automatiquement">
            <a:extLst>
              <a:ext uri="{FF2B5EF4-FFF2-40B4-BE49-F238E27FC236}">
                <a16:creationId xmlns:a16="http://schemas.microsoft.com/office/drawing/2014/main" id="{6ABE07B4-896C-4A86-B2AC-9CFB0BA2FF1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964071" y="1876697"/>
            <a:ext cx="1954937" cy="1708150"/>
          </a:xfrm>
          <a:prstGeom prst="rect">
            <a:avLst/>
          </a:prstGeom>
        </p:spPr>
      </p:pic>
      <p:sp>
        <p:nvSpPr>
          <p:cNvPr id="19" name="Rectangle 18">
            <a:extLst>
              <a:ext uri="{FF2B5EF4-FFF2-40B4-BE49-F238E27FC236}">
                <a16:creationId xmlns:a16="http://schemas.microsoft.com/office/drawing/2014/main" id="{A8266307-02EF-4741-A579-0E1AC18FF6EB}"/>
              </a:ext>
            </a:extLst>
          </p:cNvPr>
          <p:cNvSpPr/>
          <p:nvPr/>
        </p:nvSpPr>
        <p:spPr>
          <a:xfrm>
            <a:off x="2076360" y="5107058"/>
            <a:ext cx="4401566" cy="741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Chiffre d’affaires (50 000$)</a:t>
            </a:r>
          </a:p>
        </p:txBody>
      </p:sp>
      <p:sp>
        <p:nvSpPr>
          <p:cNvPr id="21" name="Rectangle 20">
            <a:extLst>
              <a:ext uri="{FF2B5EF4-FFF2-40B4-BE49-F238E27FC236}">
                <a16:creationId xmlns:a16="http://schemas.microsoft.com/office/drawing/2014/main" id="{3012803F-182B-42F8-B3C4-94FCC0428CA8}"/>
              </a:ext>
            </a:extLst>
          </p:cNvPr>
          <p:cNvSpPr/>
          <p:nvPr/>
        </p:nvSpPr>
        <p:spPr>
          <a:xfrm>
            <a:off x="6539247" y="5120383"/>
            <a:ext cx="1486762" cy="741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Taxes (14,975%)</a:t>
            </a:r>
          </a:p>
        </p:txBody>
      </p:sp>
      <p:cxnSp>
        <p:nvCxnSpPr>
          <p:cNvPr id="22" name="Connecteur droit 21">
            <a:extLst>
              <a:ext uri="{FF2B5EF4-FFF2-40B4-BE49-F238E27FC236}">
                <a16:creationId xmlns:a16="http://schemas.microsoft.com/office/drawing/2014/main" id="{10F31719-45C1-49DD-87AD-63578CAAB4A5}"/>
              </a:ext>
            </a:extLst>
          </p:cNvPr>
          <p:cNvCxnSpPr>
            <a:cxnSpLocks/>
          </p:cNvCxnSpPr>
          <p:nvPr/>
        </p:nvCxnSpPr>
        <p:spPr>
          <a:xfrm>
            <a:off x="6519151" y="5107058"/>
            <a:ext cx="0" cy="7412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Accolade fermante 22">
            <a:extLst>
              <a:ext uri="{FF2B5EF4-FFF2-40B4-BE49-F238E27FC236}">
                <a16:creationId xmlns:a16="http://schemas.microsoft.com/office/drawing/2014/main" id="{E90E7DCB-6CC1-4820-AF45-8E38C2B434AF}"/>
              </a:ext>
            </a:extLst>
          </p:cNvPr>
          <p:cNvSpPr/>
          <p:nvPr/>
        </p:nvSpPr>
        <p:spPr>
          <a:xfrm rot="16200000">
            <a:off x="4866335" y="2199177"/>
            <a:ext cx="401934" cy="5619754"/>
          </a:xfrm>
          <a:prstGeom prst="rightBrace">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16152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ZoneTexte 2">
            <a:extLst>
              <a:ext uri="{FF2B5EF4-FFF2-40B4-BE49-F238E27FC236}">
                <a16:creationId xmlns:a16="http://schemas.microsoft.com/office/drawing/2014/main" id="{C7FA3E12-DAA8-47FA-9E22-F64E87CF70BB}"/>
              </a:ext>
            </a:extLst>
          </p:cNvPr>
          <p:cNvSpPr txBox="1"/>
          <p:nvPr/>
        </p:nvSpPr>
        <p:spPr>
          <a:xfrm>
            <a:off x="2005724" y="1865463"/>
            <a:ext cx="8394320" cy="5909310"/>
          </a:xfrm>
          <a:prstGeom prst="rect">
            <a:avLst/>
          </a:prstGeom>
          <a:noFill/>
        </p:spPr>
        <p:txBody>
          <a:bodyPr wrap="square" rtlCol="0">
            <a:spAutoFit/>
          </a:bodyPr>
          <a:lstStyle/>
          <a:p>
            <a:r>
              <a:rPr lang="fr-FR" dirty="0"/>
              <a:t>Est-ce que toutes les entreprises récoltent les taxes ?</a:t>
            </a:r>
          </a:p>
          <a:p>
            <a:r>
              <a:rPr lang="fr-FR" dirty="0"/>
              <a:t>Tout entreprise qui a plus de 30 000 $ de revenus doit charger des taxes à ses clients.</a:t>
            </a:r>
          </a:p>
          <a:p>
            <a:endParaRPr lang="fr-FR" dirty="0"/>
          </a:p>
          <a:p>
            <a:r>
              <a:rPr lang="fr-FR" dirty="0"/>
              <a:t>Qu’est que les entreprises font avec les taxes récoltées?</a:t>
            </a:r>
          </a:p>
          <a:p>
            <a:r>
              <a:rPr lang="fr-FR" dirty="0"/>
              <a:t>L'entreprise doit remettre les taxes amassés aux gouvernements.</a:t>
            </a:r>
          </a:p>
          <a:p>
            <a:endParaRPr lang="fr-FR" dirty="0"/>
          </a:p>
          <a:p>
            <a:endParaRPr lang="fr-FR" dirty="0"/>
          </a:p>
          <a:p>
            <a:r>
              <a:rPr lang="fr-FR" dirty="0"/>
              <a:t>TPS (Taxes sur les Produits et Services)  </a:t>
            </a:r>
            <a:r>
              <a:rPr lang="fr-FR" dirty="0">
                <a:sym typeface="Wingdings" panose="05000000000000000000" pitchFamily="2" charset="2"/>
              </a:rPr>
              <a:t></a:t>
            </a:r>
            <a:r>
              <a:rPr lang="fr-FR" dirty="0"/>
              <a:t> Fédéral          </a:t>
            </a:r>
            <a:r>
              <a:rPr lang="fr-FR" b="1" dirty="0"/>
              <a:t>5%</a:t>
            </a:r>
          </a:p>
          <a:p>
            <a:endParaRPr lang="fr-FR" dirty="0"/>
          </a:p>
          <a:p>
            <a:r>
              <a:rPr lang="fr-FR" dirty="0"/>
              <a:t>TVQ (Taxe de Vente du Québec) </a:t>
            </a:r>
            <a:r>
              <a:rPr lang="fr-FR" dirty="0">
                <a:sym typeface="Wingdings" panose="05000000000000000000" pitchFamily="2" charset="2"/>
              </a:rPr>
              <a:t> Québec               </a:t>
            </a:r>
            <a:r>
              <a:rPr lang="fr-FR" b="1" dirty="0">
                <a:sym typeface="Wingdings" panose="05000000000000000000" pitchFamily="2" charset="2"/>
              </a:rPr>
              <a:t>9,975%</a:t>
            </a:r>
          </a:p>
          <a:p>
            <a:endParaRPr lang="fr-FR" dirty="0">
              <a:sym typeface="Wingdings" panose="05000000000000000000" pitchFamily="2" charset="2"/>
            </a:endParaRPr>
          </a:p>
          <a:p>
            <a:endParaRPr lang="fr-FR" dirty="0">
              <a:sym typeface="Wingdings" panose="05000000000000000000" pitchFamily="2" charset="2"/>
            </a:endParaRPr>
          </a:p>
          <a:p>
            <a:endParaRPr lang="fr-FR" dirty="0">
              <a:sym typeface="Wingdings" panose="05000000000000000000" pitchFamily="2" charset="2"/>
            </a:endParaRPr>
          </a:p>
          <a:p>
            <a:endParaRPr lang="fr-FR" dirty="0"/>
          </a:p>
          <a:p>
            <a:r>
              <a:rPr lang="fr-FR" dirty="0"/>
              <a:t>---------------------------</a:t>
            </a:r>
          </a:p>
          <a:p>
            <a:r>
              <a:rPr lang="fr-FR" dirty="0"/>
              <a:t>TVH (Taxe de Ventes Harmonisées)</a:t>
            </a:r>
            <a:r>
              <a:rPr lang="fr-FR" dirty="0">
                <a:sym typeface="Wingdings" panose="05000000000000000000" pitchFamily="2" charset="2"/>
              </a:rPr>
              <a:t> Ontario</a:t>
            </a:r>
          </a:p>
          <a:p>
            <a:endParaRPr lang="fr-FR" dirty="0">
              <a:sym typeface="Wingdings" panose="05000000000000000000" pitchFamily="2" charset="2"/>
            </a:endParaRPr>
          </a:p>
          <a:p>
            <a:endParaRPr lang="fr-FR" dirty="0">
              <a:sym typeface="Wingdings" panose="05000000000000000000" pitchFamily="2" charset="2"/>
            </a:endParaRPr>
          </a:p>
          <a:p>
            <a:endParaRPr lang="fr-FR" dirty="0">
              <a:sym typeface="Wingdings" panose="05000000000000000000" pitchFamily="2" charset="2"/>
            </a:endParaRPr>
          </a:p>
          <a:p>
            <a:endParaRPr lang="fr-FR" dirty="0">
              <a:sym typeface="Wingdings" panose="05000000000000000000" pitchFamily="2" charset="2"/>
            </a:endParaRPr>
          </a:p>
          <a:p>
            <a:endParaRPr lang="fr-FR" dirty="0"/>
          </a:p>
        </p:txBody>
      </p:sp>
      <p:pic>
        <p:nvPicPr>
          <p:cNvPr id="9" name="Image 8" descr="Une image contenant texte, tableau blanc&#10;&#10;Description générée automatiquement">
            <a:extLst>
              <a:ext uri="{FF2B5EF4-FFF2-40B4-BE49-F238E27FC236}">
                <a16:creationId xmlns:a16="http://schemas.microsoft.com/office/drawing/2014/main" id="{9C7569AD-9757-49AC-AC87-53EB6BDC607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040087" y="4238625"/>
            <a:ext cx="1954937" cy="1708150"/>
          </a:xfrm>
          <a:prstGeom prst="rect">
            <a:avLst/>
          </a:prstGeom>
        </p:spPr>
      </p:pic>
    </p:spTree>
    <p:extLst>
      <p:ext uri="{BB962C8B-B14F-4D97-AF65-F5344CB8AC3E}">
        <p14:creationId xmlns:p14="http://schemas.microsoft.com/office/powerpoint/2010/main" val="415900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 - Exercice</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4">
            <a:extLst>
              <a:ext uri="{FF2B5EF4-FFF2-40B4-BE49-F238E27FC236}">
                <a16:creationId xmlns:a16="http://schemas.microsoft.com/office/drawing/2014/main" id="{E0FC48B6-4429-46B4-BDFD-9682AD0B6DA8}"/>
              </a:ext>
            </a:extLst>
          </p:cNvPr>
          <p:cNvGraphicFramePr>
            <a:graphicFrameLocks noGrp="1"/>
          </p:cNvGraphicFramePr>
          <p:nvPr>
            <p:extLst>
              <p:ext uri="{D42A27DB-BD31-4B8C-83A1-F6EECF244321}">
                <p14:modId xmlns:p14="http://schemas.microsoft.com/office/powerpoint/2010/main" val="27912317"/>
              </p:ext>
            </p:extLst>
          </p:nvPr>
        </p:nvGraphicFramePr>
        <p:xfrm>
          <a:off x="1870348" y="3438525"/>
          <a:ext cx="4953876" cy="2494280"/>
        </p:xfrm>
        <a:graphic>
          <a:graphicData uri="http://schemas.openxmlformats.org/drawingml/2006/table">
            <a:tbl>
              <a:tblPr firstRow="1" bandRow="1">
                <a:tableStyleId>{5C22544A-7EE6-4342-B048-85BDC9FD1C3A}</a:tableStyleId>
              </a:tblPr>
              <a:tblGrid>
                <a:gridCol w="2476938">
                  <a:extLst>
                    <a:ext uri="{9D8B030D-6E8A-4147-A177-3AD203B41FA5}">
                      <a16:colId xmlns:a16="http://schemas.microsoft.com/office/drawing/2014/main" val="1478389918"/>
                    </a:ext>
                  </a:extLst>
                </a:gridCol>
                <a:gridCol w="2476938">
                  <a:extLst>
                    <a:ext uri="{9D8B030D-6E8A-4147-A177-3AD203B41FA5}">
                      <a16:colId xmlns:a16="http://schemas.microsoft.com/office/drawing/2014/main" val="3841725658"/>
                    </a:ext>
                  </a:extLst>
                </a:gridCol>
              </a:tblGrid>
              <a:tr h="370840">
                <a:tc>
                  <a:txBody>
                    <a:bodyPr/>
                    <a:lstStyle/>
                    <a:p>
                      <a:endParaRPr lang="fr-FR" dirty="0"/>
                    </a:p>
                  </a:txBody>
                  <a:tcPr>
                    <a:solidFill>
                      <a:srgbClr val="FF0000"/>
                    </a:solidFill>
                  </a:tcPr>
                </a:tc>
                <a:tc>
                  <a:txBody>
                    <a:bodyPr/>
                    <a:lstStyle/>
                    <a:p>
                      <a:endParaRPr lang="fr-FR" dirty="0"/>
                    </a:p>
                  </a:txBody>
                  <a:tcPr>
                    <a:solidFill>
                      <a:srgbClr val="FF0000"/>
                    </a:solidFill>
                  </a:tcPr>
                </a:tc>
                <a:extLst>
                  <a:ext uri="{0D108BD9-81ED-4DB2-BD59-A6C34878D82A}">
                    <a16:rowId xmlns:a16="http://schemas.microsoft.com/office/drawing/2014/main" val="38962125"/>
                  </a:ext>
                </a:extLst>
              </a:tr>
              <a:tr h="370840">
                <a:tc>
                  <a:txBody>
                    <a:bodyPr/>
                    <a:lstStyle/>
                    <a:p>
                      <a:r>
                        <a:rPr lang="fr-FR" dirty="0"/>
                        <a:t>Chiffre d’affaires </a:t>
                      </a:r>
                    </a:p>
                  </a:txBody>
                  <a:tcPr/>
                </a:tc>
                <a:tc>
                  <a:txBody>
                    <a:bodyPr/>
                    <a:lstStyle/>
                    <a:p>
                      <a:r>
                        <a:rPr lang="fr-FR" dirty="0"/>
                        <a:t>100 000$</a:t>
                      </a:r>
                    </a:p>
                  </a:txBody>
                  <a:tcPr/>
                </a:tc>
                <a:extLst>
                  <a:ext uri="{0D108BD9-81ED-4DB2-BD59-A6C34878D82A}">
                    <a16:rowId xmlns:a16="http://schemas.microsoft.com/office/drawing/2014/main" val="198852886"/>
                  </a:ext>
                </a:extLst>
              </a:tr>
              <a:tr h="370840">
                <a:tc>
                  <a:txBody>
                    <a:bodyPr/>
                    <a:lstStyle/>
                    <a:p>
                      <a:r>
                        <a:rPr lang="fr-FR" dirty="0"/>
                        <a:t>TPS (5%)</a:t>
                      </a:r>
                    </a:p>
                  </a:txBody>
                  <a:tcPr/>
                </a:tc>
                <a:tc>
                  <a:txBody>
                    <a:bodyPr/>
                    <a:lstStyle/>
                    <a:p>
                      <a:endParaRPr lang="fr-FR" dirty="0"/>
                    </a:p>
                  </a:txBody>
                  <a:tcPr/>
                </a:tc>
                <a:extLst>
                  <a:ext uri="{0D108BD9-81ED-4DB2-BD59-A6C34878D82A}">
                    <a16:rowId xmlns:a16="http://schemas.microsoft.com/office/drawing/2014/main" val="1332362656"/>
                  </a:ext>
                </a:extLst>
              </a:tr>
              <a:tr h="370840">
                <a:tc>
                  <a:txBody>
                    <a:bodyPr/>
                    <a:lstStyle/>
                    <a:p>
                      <a:r>
                        <a:rPr lang="fr-FR" dirty="0"/>
                        <a:t>TVQ (9,975%)</a:t>
                      </a:r>
                    </a:p>
                  </a:txBody>
                  <a:tcPr/>
                </a:tc>
                <a:tc>
                  <a:txBody>
                    <a:bodyPr/>
                    <a:lstStyle/>
                    <a:p>
                      <a:endParaRPr lang="fr-FR" dirty="0"/>
                    </a:p>
                  </a:txBody>
                  <a:tcPr/>
                </a:tc>
                <a:extLst>
                  <a:ext uri="{0D108BD9-81ED-4DB2-BD59-A6C34878D82A}">
                    <a16:rowId xmlns:a16="http://schemas.microsoft.com/office/drawing/2014/main" val="1218146340"/>
                  </a:ext>
                </a:extLst>
              </a:tr>
              <a:tr h="370840">
                <a:tc>
                  <a:txBody>
                    <a:bodyPr/>
                    <a:lstStyle/>
                    <a:p>
                      <a:r>
                        <a:rPr lang="fr-FR" dirty="0"/>
                        <a:t>Total encaissé</a:t>
                      </a:r>
                    </a:p>
                  </a:txBody>
                  <a:tcPr/>
                </a:tc>
                <a:tc>
                  <a:txBody>
                    <a:bodyPr/>
                    <a:lstStyle/>
                    <a:p>
                      <a:endParaRPr lang="fr-FR" dirty="0"/>
                    </a:p>
                  </a:txBody>
                  <a:tcPr/>
                </a:tc>
                <a:extLst>
                  <a:ext uri="{0D108BD9-81ED-4DB2-BD59-A6C34878D82A}">
                    <a16:rowId xmlns:a16="http://schemas.microsoft.com/office/drawing/2014/main" val="3463175354"/>
                  </a:ext>
                </a:extLst>
              </a:tr>
              <a:tr h="370840">
                <a:tc>
                  <a:txBody>
                    <a:bodyPr/>
                    <a:lstStyle/>
                    <a:p>
                      <a:r>
                        <a:rPr lang="fr-FR" dirty="0"/>
                        <a:t>Montant à remettre </a:t>
                      </a:r>
                    </a:p>
                    <a:p>
                      <a:r>
                        <a:rPr lang="fr-FR" dirty="0"/>
                        <a:t>au gouvernement</a:t>
                      </a:r>
                    </a:p>
                  </a:txBody>
                  <a:tcPr/>
                </a:tc>
                <a:tc>
                  <a:txBody>
                    <a:bodyPr/>
                    <a:lstStyle/>
                    <a:p>
                      <a:endParaRPr lang="fr-FR" dirty="0"/>
                    </a:p>
                  </a:txBody>
                  <a:tcPr/>
                </a:tc>
                <a:extLst>
                  <a:ext uri="{0D108BD9-81ED-4DB2-BD59-A6C34878D82A}">
                    <a16:rowId xmlns:a16="http://schemas.microsoft.com/office/drawing/2014/main" val="345704737"/>
                  </a:ext>
                </a:extLst>
              </a:tr>
            </a:tbl>
          </a:graphicData>
        </a:graphic>
      </p:graphicFrame>
      <p:sp>
        <p:nvSpPr>
          <p:cNvPr id="5" name="ZoneTexte 4">
            <a:extLst>
              <a:ext uri="{FF2B5EF4-FFF2-40B4-BE49-F238E27FC236}">
                <a16:creationId xmlns:a16="http://schemas.microsoft.com/office/drawing/2014/main" id="{6D586659-FF12-49A7-B96B-333D40F69AAD}"/>
              </a:ext>
            </a:extLst>
          </p:cNvPr>
          <p:cNvSpPr txBox="1"/>
          <p:nvPr/>
        </p:nvSpPr>
        <p:spPr>
          <a:xfrm>
            <a:off x="2005724" y="1714499"/>
            <a:ext cx="7909801" cy="923330"/>
          </a:xfrm>
          <a:prstGeom prst="rect">
            <a:avLst/>
          </a:prstGeom>
          <a:noFill/>
        </p:spPr>
        <p:txBody>
          <a:bodyPr wrap="square" rtlCol="0">
            <a:spAutoFit/>
          </a:bodyPr>
          <a:lstStyle/>
          <a:p>
            <a:r>
              <a:rPr lang="fr-FR" dirty="0"/>
              <a:t>Vous avez une entreprise qui prévoit faire un chiffre d’affaires de 100 000$. Quel sera le montant total que vous allez encaisser dans votre compte de Banque d’entreprise ?</a:t>
            </a:r>
          </a:p>
        </p:txBody>
      </p:sp>
      <p:sp>
        <p:nvSpPr>
          <p:cNvPr id="10" name="ZoneTexte 9">
            <a:extLst>
              <a:ext uri="{FF2B5EF4-FFF2-40B4-BE49-F238E27FC236}">
                <a16:creationId xmlns:a16="http://schemas.microsoft.com/office/drawing/2014/main" id="{7154A0AD-7089-4BCF-BCCE-1B60E6A650CC}"/>
              </a:ext>
            </a:extLst>
          </p:cNvPr>
          <p:cNvSpPr txBox="1"/>
          <p:nvPr/>
        </p:nvSpPr>
        <p:spPr>
          <a:xfrm>
            <a:off x="4388999" y="4178300"/>
            <a:ext cx="1676400" cy="384721"/>
          </a:xfrm>
          <a:prstGeom prst="rect">
            <a:avLst/>
          </a:prstGeom>
          <a:noFill/>
        </p:spPr>
        <p:txBody>
          <a:bodyPr wrap="square" rtlCol="0">
            <a:spAutoFit/>
          </a:bodyPr>
          <a:lstStyle/>
          <a:p>
            <a:r>
              <a:rPr lang="fr-FR" sz="1900" dirty="0"/>
              <a:t>5000$</a:t>
            </a:r>
          </a:p>
        </p:txBody>
      </p:sp>
      <p:sp>
        <p:nvSpPr>
          <p:cNvPr id="11" name="ZoneTexte 10">
            <a:extLst>
              <a:ext uri="{FF2B5EF4-FFF2-40B4-BE49-F238E27FC236}">
                <a16:creationId xmlns:a16="http://schemas.microsoft.com/office/drawing/2014/main" id="{7A111F80-5A33-45C1-9452-63290EBE5751}"/>
              </a:ext>
            </a:extLst>
          </p:cNvPr>
          <p:cNvSpPr txBox="1"/>
          <p:nvPr/>
        </p:nvSpPr>
        <p:spPr>
          <a:xfrm>
            <a:off x="4388999" y="4550321"/>
            <a:ext cx="1676400" cy="384721"/>
          </a:xfrm>
          <a:prstGeom prst="rect">
            <a:avLst/>
          </a:prstGeom>
          <a:noFill/>
        </p:spPr>
        <p:txBody>
          <a:bodyPr wrap="square" rtlCol="0">
            <a:spAutoFit/>
          </a:bodyPr>
          <a:lstStyle/>
          <a:p>
            <a:r>
              <a:rPr lang="fr-FR" sz="1900" dirty="0"/>
              <a:t>9975$</a:t>
            </a:r>
          </a:p>
        </p:txBody>
      </p:sp>
      <p:sp>
        <p:nvSpPr>
          <p:cNvPr id="12" name="ZoneTexte 11">
            <a:extLst>
              <a:ext uri="{FF2B5EF4-FFF2-40B4-BE49-F238E27FC236}">
                <a16:creationId xmlns:a16="http://schemas.microsoft.com/office/drawing/2014/main" id="{A6989A07-3F9D-475F-838C-6D36FF13314A}"/>
              </a:ext>
            </a:extLst>
          </p:cNvPr>
          <p:cNvSpPr txBox="1"/>
          <p:nvPr/>
        </p:nvSpPr>
        <p:spPr>
          <a:xfrm>
            <a:off x="4388999" y="4893767"/>
            <a:ext cx="1676400" cy="384721"/>
          </a:xfrm>
          <a:prstGeom prst="rect">
            <a:avLst/>
          </a:prstGeom>
          <a:noFill/>
        </p:spPr>
        <p:txBody>
          <a:bodyPr wrap="square" rtlCol="0">
            <a:spAutoFit/>
          </a:bodyPr>
          <a:lstStyle/>
          <a:p>
            <a:r>
              <a:rPr lang="fr-FR" sz="1900" dirty="0"/>
              <a:t>114 975$</a:t>
            </a:r>
          </a:p>
        </p:txBody>
      </p:sp>
      <p:cxnSp>
        <p:nvCxnSpPr>
          <p:cNvPr id="13" name="Connecteur droit avec flèche 12">
            <a:extLst>
              <a:ext uri="{FF2B5EF4-FFF2-40B4-BE49-F238E27FC236}">
                <a16:creationId xmlns:a16="http://schemas.microsoft.com/office/drawing/2014/main" id="{0E7E7BEE-1EA3-4173-B06B-D683C0C33D1A}"/>
              </a:ext>
            </a:extLst>
          </p:cNvPr>
          <p:cNvCxnSpPr>
            <a:cxnSpLocks/>
          </p:cNvCxnSpPr>
          <p:nvPr/>
        </p:nvCxnSpPr>
        <p:spPr>
          <a:xfrm>
            <a:off x="7354765" y="5643110"/>
            <a:ext cx="138918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0E90659F-84E7-4F96-BC46-07196C70FF68}"/>
              </a:ext>
            </a:extLst>
          </p:cNvPr>
          <p:cNvSpPr txBox="1"/>
          <p:nvPr/>
        </p:nvSpPr>
        <p:spPr>
          <a:xfrm>
            <a:off x="9077325" y="5450749"/>
            <a:ext cx="1676400" cy="677108"/>
          </a:xfrm>
          <a:prstGeom prst="rect">
            <a:avLst/>
          </a:prstGeom>
          <a:noFill/>
        </p:spPr>
        <p:txBody>
          <a:bodyPr wrap="square" rtlCol="0">
            <a:spAutoFit/>
          </a:bodyPr>
          <a:lstStyle/>
          <a:p>
            <a:r>
              <a:rPr lang="fr-FR" sz="1900" dirty="0"/>
              <a:t>GARDEZ VOS FACTURES</a:t>
            </a:r>
          </a:p>
        </p:txBody>
      </p:sp>
      <p:sp>
        <p:nvSpPr>
          <p:cNvPr id="16" name="ZoneTexte 15">
            <a:extLst>
              <a:ext uri="{FF2B5EF4-FFF2-40B4-BE49-F238E27FC236}">
                <a16:creationId xmlns:a16="http://schemas.microsoft.com/office/drawing/2014/main" id="{0D933DE7-F0AC-4032-BF44-9943876BB6A2}"/>
              </a:ext>
            </a:extLst>
          </p:cNvPr>
          <p:cNvSpPr txBox="1"/>
          <p:nvPr/>
        </p:nvSpPr>
        <p:spPr>
          <a:xfrm>
            <a:off x="4388998" y="5276126"/>
            <a:ext cx="2435225" cy="677108"/>
          </a:xfrm>
          <a:prstGeom prst="rect">
            <a:avLst/>
          </a:prstGeom>
          <a:noFill/>
        </p:spPr>
        <p:txBody>
          <a:bodyPr wrap="square" rtlCol="0">
            <a:spAutoFit/>
          </a:bodyPr>
          <a:lstStyle/>
          <a:p>
            <a:r>
              <a:rPr lang="fr-FR" sz="1900" dirty="0"/>
              <a:t>VOUS POUVEZ DÉDUIRE LE MONTANT</a:t>
            </a:r>
          </a:p>
        </p:txBody>
      </p:sp>
    </p:spTree>
    <p:extLst>
      <p:ext uri="{BB962C8B-B14F-4D97-AF65-F5344CB8AC3E}">
        <p14:creationId xmlns:p14="http://schemas.microsoft.com/office/powerpoint/2010/main" val="181859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 - Remboursement</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4">
            <a:extLst>
              <a:ext uri="{FF2B5EF4-FFF2-40B4-BE49-F238E27FC236}">
                <a16:creationId xmlns:a16="http://schemas.microsoft.com/office/drawing/2014/main" id="{E0FC48B6-4429-46B4-BDFD-9682AD0B6DA8}"/>
              </a:ext>
            </a:extLst>
          </p:cNvPr>
          <p:cNvGraphicFramePr>
            <a:graphicFrameLocks noGrp="1"/>
          </p:cNvGraphicFramePr>
          <p:nvPr>
            <p:extLst>
              <p:ext uri="{D42A27DB-BD31-4B8C-83A1-F6EECF244321}">
                <p14:modId xmlns:p14="http://schemas.microsoft.com/office/powerpoint/2010/main" val="4113984323"/>
              </p:ext>
            </p:extLst>
          </p:nvPr>
        </p:nvGraphicFramePr>
        <p:xfrm>
          <a:off x="2005724" y="2869558"/>
          <a:ext cx="4953876" cy="3332480"/>
        </p:xfrm>
        <a:graphic>
          <a:graphicData uri="http://schemas.openxmlformats.org/drawingml/2006/table">
            <a:tbl>
              <a:tblPr firstRow="1" bandRow="1">
                <a:tableStyleId>{5C22544A-7EE6-4342-B048-85BDC9FD1C3A}</a:tableStyleId>
              </a:tblPr>
              <a:tblGrid>
                <a:gridCol w="2476938">
                  <a:extLst>
                    <a:ext uri="{9D8B030D-6E8A-4147-A177-3AD203B41FA5}">
                      <a16:colId xmlns:a16="http://schemas.microsoft.com/office/drawing/2014/main" val="1478389918"/>
                    </a:ext>
                  </a:extLst>
                </a:gridCol>
                <a:gridCol w="2476938">
                  <a:extLst>
                    <a:ext uri="{9D8B030D-6E8A-4147-A177-3AD203B41FA5}">
                      <a16:colId xmlns:a16="http://schemas.microsoft.com/office/drawing/2014/main" val="3841725658"/>
                    </a:ext>
                  </a:extLst>
                </a:gridCol>
              </a:tblGrid>
              <a:tr h="370840">
                <a:tc>
                  <a:txBody>
                    <a:bodyPr/>
                    <a:lstStyle/>
                    <a:p>
                      <a:endParaRPr lang="fr-FR" dirty="0"/>
                    </a:p>
                  </a:txBody>
                  <a:tcPr>
                    <a:solidFill>
                      <a:srgbClr val="FF0000"/>
                    </a:solidFill>
                  </a:tcPr>
                </a:tc>
                <a:tc>
                  <a:txBody>
                    <a:bodyPr/>
                    <a:lstStyle/>
                    <a:p>
                      <a:endParaRPr lang="fr-FR" dirty="0"/>
                    </a:p>
                  </a:txBody>
                  <a:tcPr>
                    <a:solidFill>
                      <a:srgbClr val="FF0000"/>
                    </a:solidFill>
                  </a:tcPr>
                </a:tc>
                <a:extLst>
                  <a:ext uri="{0D108BD9-81ED-4DB2-BD59-A6C34878D82A}">
                    <a16:rowId xmlns:a16="http://schemas.microsoft.com/office/drawing/2014/main" val="38962125"/>
                  </a:ext>
                </a:extLst>
              </a:tr>
              <a:tr h="370840">
                <a:tc>
                  <a:txBody>
                    <a:bodyPr/>
                    <a:lstStyle/>
                    <a:p>
                      <a:r>
                        <a:rPr lang="fr-FR" dirty="0"/>
                        <a:t>TPS encaissé (5%)</a:t>
                      </a:r>
                    </a:p>
                  </a:txBody>
                  <a:tcPr/>
                </a:tc>
                <a:tc>
                  <a:txBody>
                    <a:bodyPr/>
                    <a:lstStyle/>
                    <a:p>
                      <a:r>
                        <a:rPr lang="fr-FR" dirty="0"/>
                        <a:t>5000</a:t>
                      </a:r>
                    </a:p>
                  </a:txBody>
                  <a:tcPr/>
                </a:tc>
                <a:extLst>
                  <a:ext uri="{0D108BD9-81ED-4DB2-BD59-A6C34878D82A}">
                    <a16:rowId xmlns:a16="http://schemas.microsoft.com/office/drawing/2014/main" val="1332362656"/>
                  </a:ext>
                </a:extLst>
              </a:tr>
              <a:tr h="370840">
                <a:tc>
                  <a:txBody>
                    <a:bodyPr/>
                    <a:lstStyle/>
                    <a:p>
                      <a:r>
                        <a:rPr lang="fr-FR" dirty="0"/>
                        <a:t>TPS payé</a:t>
                      </a:r>
                    </a:p>
                  </a:txBody>
                  <a:tcPr/>
                </a:tc>
                <a:tc>
                  <a:txBody>
                    <a:bodyPr/>
                    <a:lstStyle/>
                    <a:p>
                      <a:endParaRPr lang="fr-FR" dirty="0"/>
                    </a:p>
                  </a:txBody>
                  <a:tcPr/>
                </a:tc>
                <a:extLst>
                  <a:ext uri="{0D108BD9-81ED-4DB2-BD59-A6C34878D82A}">
                    <a16:rowId xmlns:a16="http://schemas.microsoft.com/office/drawing/2014/main" val="612542214"/>
                  </a:ext>
                </a:extLst>
              </a:tr>
              <a:tr h="370840">
                <a:tc>
                  <a:txBody>
                    <a:bodyPr/>
                    <a:lstStyle/>
                    <a:p>
                      <a:r>
                        <a:rPr lang="fr-FR" dirty="0"/>
                        <a:t>TPS à remettre</a:t>
                      </a:r>
                    </a:p>
                  </a:txBody>
                  <a:tcPr/>
                </a:tc>
                <a:tc>
                  <a:txBody>
                    <a:bodyPr/>
                    <a:lstStyle/>
                    <a:p>
                      <a:endParaRPr lang="fr-FR" dirty="0"/>
                    </a:p>
                  </a:txBody>
                  <a:tcPr/>
                </a:tc>
                <a:extLst>
                  <a:ext uri="{0D108BD9-81ED-4DB2-BD59-A6C34878D82A}">
                    <a16:rowId xmlns:a16="http://schemas.microsoft.com/office/drawing/2014/main" val="687360486"/>
                  </a:ext>
                </a:extLst>
              </a:tr>
              <a:tr h="0">
                <a:tc>
                  <a:txBody>
                    <a:bodyPr/>
                    <a:lstStyle/>
                    <a:p>
                      <a:endParaRPr lang="fr-FR" dirty="0"/>
                    </a:p>
                  </a:txBody>
                  <a:tcPr/>
                </a:tc>
                <a:tc>
                  <a:txBody>
                    <a:bodyPr/>
                    <a:lstStyle/>
                    <a:p>
                      <a:endParaRPr lang="fr-FR" dirty="0"/>
                    </a:p>
                  </a:txBody>
                  <a:tcPr/>
                </a:tc>
                <a:extLst>
                  <a:ext uri="{0D108BD9-81ED-4DB2-BD59-A6C34878D82A}">
                    <a16:rowId xmlns:a16="http://schemas.microsoft.com/office/drawing/2014/main" val="1218146340"/>
                  </a:ext>
                </a:extLst>
              </a:tr>
              <a:tr h="370840">
                <a:tc>
                  <a:txBody>
                    <a:bodyPr/>
                    <a:lstStyle/>
                    <a:p>
                      <a:r>
                        <a:rPr lang="fr-FR" dirty="0"/>
                        <a:t>TVQ encaissé  (9,975%)</a:t>
                      </a:r>
                    </a:p>
                  </a:txBody>
                  <a:tcPr/>
                </a:tc>
                <a:tc>
                  <a:txBody>
                    <a:bodyPr/>
                    <a:lstStyle/>
                    <a:p>
                      <a:r>
                        <a:rPr lang="fr-FR" dirty="0"/>
                        <a:t>9975</a:t>
                      </a:r>
                    </a:p>
                  </a:txBody>
                  <a:tcPr/>
                </a:tc>
                <a:extLst>
                  <a:ext uri="{0D108BD9-81ED-4DB2-BD59-A6C34878D82A}">
                    <a16:rowId xmlns:a16="http://schemas.microsoft.com/office/drawing/2014/main" val="2356784273"/>
                  </a:ext>
                </a:extLst>
              </a:tr>
              <a:tr h="370840">
                <a:tc>
                  <a:txBody>
                    <a:bodyPr/>
                    <a:lstStyle/>
                    <a:p>
                      <a:r>
                        <a:rPr lang="fr-FR" dirty="0"/>
                        <a:t>TVQ payé</a:t>
                      </a:r>
                    </a:p>
                  </a:txBody>
                  <a:tcPr/>
                </a:tc>
                <a:tc>
                  <a:txBody>
                    <a:bodyPr/>
                    <a:lstStyle/>
                    <a:p>
                      <a:endParaRPr lang="fr-FR" dirty="0"/>
                    </a:p>
                  </a:txBody>
                  <a:tcPr/>
                </a:tc>
                <a:extLst>
                  <a:ext uri="{0D108BD9-81ED-4DB2-BD59-A6C34878D82A}">
                    <a16:rowId xmlns:a16="http://schemas.microsoft.com/office/drawing/2014/main" val="1099931752"/>
                  </a:ext>
                </a:extLst>
              </a:tr>
              <a:tr h="370840">
                <a:tc>
                  <a:txBody>
                    <a:bodyPr/>
                    <a:lstStyle/>
                    <a:p>
                      <a:r>
                        <a:rPr lang="fr-FR" dirty="0"/>
                        <a:t>TVQ à remettre</a:t>
                      </a:r>
                    </a:p>
                  </a:txBody>
                  <a:tcPr/>
                </a:tc>
                <a:tc>
                  <a:txBody>
                    <a:bodyPr/>
                    <a:lstStyle/>
                    <a:p>
                      <a:endParaRPr lang="fr-FR" dirty="0"/>
                    </a:p>
                  </a:txBody>
                  <a:tcPr/>
                </a:tc>
                <a:extLst>
                  <a:ext uri="{0D108BD9-81ED-4DB2-BD59-A6C34878D82A}">
                    <a16:rowId xmlns:a16="http://schemas.microsoft.com/office/drawing/2014/main" val="3463175354"/>
                  </a:ext>
                </a:extLst>
              </a:tr>
              <a:tr h="370840">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45704737"/>
                  </a:ext>
                </a:extLst>
              </a:tr>
            </a:tbl>
          </a:graphicData>
        </a:graphic>
      </p:graphicFrame>
      <p:sp>
        <p:nvSpPr>
          <p:cNvPr id="5" name="ZoneTexte 4">
            <a:extLst>
              <a:ext uri="{FF2B5EF4-FFF2-40B4-BE49-F238E27FC236}">
                <a16:creationId xmlns:a16="http://schemas.microsoft.com/office/drawing/2014/main" id="{6D586659-FF12-49A7-B96B-333D40F69AAD}"/>
              </a:ext>
            </a:extLst>
          </p:cNvPr>
          <p:cNvSpPr txBox="1"/>
          <p:nvPr/>
        </p:nvSpPr>
        <p:spPr>
          <a:xfrm>
            <a:off x="2005724" y="1714499"/>
            <a:ext cx="8862301" cy="369332"/>
          </a:xfrm>
          <a:prstGeom prst="rect">
            <a:avLst/>
          </a:prstGeom>
          <a:noFill/>
        </p:spPr>
        <p:txBody>
          <a:bodyPr wrap="square" rtlCol="0">
            <a:spAutoFit/>
          </a:bodyPr>
          <a:lstStyle/>
          <a:p>
            <a:r>
              <a:rPr lang="fr-FR" dirty="0"/>
              <a:t>Comment puis-je faire pour déduire le montant à remettre</a:t>
            </a:r>
          </a:p>
        </p:txBody>
      </p:sp>
      <p:cxnSp>
        <p:nvCxnSpPr>
          <p:cNvPr id="13" name="Connecteur droit avec flèche 12">
            <a:extLst>
              <a:ext uri="{FF2B5EF4-FFF2-40B4-BE49-F238E27FC236}">
                <a16:creationId xmlns:a16="http://schemas.microsoft.com/office/drawing/2014/main" id="{0E7E7BEE-1EA3-4173-B06B-D683C0C33D1A}"/>
              </a:ext>
            </a:extLst>
          </p:cNvPr>
          <p:cNvCxnSpPr>
            <a:cxnSpLocks/>
          </p:cNvCxnSpPr>
          <p:nvPr/>
        </p:nvCxnSpPr>
        <p:spPr>
          <a:xfrm>
            <a:off x="7354765" y="5643110"/>
            <a:ext cx="138918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0E90659F-84E7-4F96-BC46-07196C70FF68}"/>
              </a:ext>
            </a:extLst>
          </p:cNvPr>
          <p:cNvSpPr txBox="1"/>
          <p:nvPr/>
        </p:nvSpPr>
        <p:spPr>
          <a:xfrm>
            <a:off x="9077325" y="5450749"/>
            <a:ext cx="1676400" cy="677108"/>
          </a:xfrm>
          <a:prstGeom prst="rect">
            <a:avLst/>
          </a:prstGeom>
          <a:noFill/>
        </p:spPr>
        <p:txBody>
          <a:bodyPr wrap="square" rtlCol="0">
            <a:spAutoFit/>
          </a:bodyPr>
          <a:lstStyle/>
          <a:p>
            <a:r>
              <a:rPr lang="fr-FR" sz="1900" dirty="0"/>
              <a:t>GARDEZ VOS FACTURES</a:t>
            </a:r>
          </a:p>
        </p:txBody>
      </p:sp>
      <p:sp>
        <p:nvSpPr>
          <p:cNvPr id="3" name="ZoneTexte 2">
            <a:extLst>
              <a:ext uri="{FF2B5EF4-FFF2-40B4-BE49-F238E27FC236}">
                <a16:creationId xmlns:a16="http://schemas.microsoft.com/office/drawing/2014/main" id="{04EE7A45-7E64-4D46-BB15-56B4D163F002}"/>
              </a:ext>
            </a:extLst>
          </p:cNvPr>
          <p:cNvSpPr txBox="1"/>
          <p:nvPr/>
        </p:nvSpPr>
        <p:spPr>
          <a:xfrm>
            <a:off x="4572000" y="3612630"/>
            <a:ext cx="1094282" cy="369332"/>
          </a:xfrm>
          <a:prstGeom prst="rect">
            <a:avLst/>
          </a:prstGeom>
          <a:noFill/>
        </p:spPr>
        <p:txBody>
          <a:bodyPr wrap="square" rtlCol="0">
            <a:spAutoFit/>
          </a:bodyPr>
          <a:lstStyle/>
          <a:p>
            <a:r>
              <a:rPr lang="fr-FR" dirty="0"/>
              <a:t>x</a:t>
            </a:r>
          </a:p>
        </p:txBody>
      </p:sp>
      <p:sp>
        <p:nvSpPr>
          <p:cNvPr id="14" name="ZoneTexte 13">
            <a:extLst>
              <a:ext uri="{FF2B5EF4-FFF2-40B4-BE49-F238E27FC236}">
                <a16:creationId xmlns:a16="http://schemas.microsoft.com/office/drawing/2014/main" id="{8804CCDB-7C7F-4B3D-890A-A630B907CE33}"/>
              </a:ext>
            </a:extLst>
          </p:cNvPr>
          <p:cNvSpPr txBox="1"/>
          <p:nvPr/>
        </p:nvSpPr>
        <p:spPr>
          <a:xfrm>
            <a:off x="4572000" y="3980934"/>
            <a:ext cx="1094282" cy="369332"/>
          </a:xfrm>
          <a:prstGeom prst="rect">
            <a:avLst/>
          </a:prstGeom>
          <a:noFill/>
        </p:spPr>
        <p:txBody>
          <a:bodyPr wrap="square" rtlCol="0">
            <a:spAutoFit/>
          </a:bodyPr>
          <a:lstStyle/>
          <a:p>
            <a:r>
              <a:rPr lang="fr-FR" dirty="0"/>
              <a:t>5000-x</a:t>
            </a:r>
          </a:p>
        </p:txBody>
      </p:sp>
      <p:sp>
        <p:nvSpPr>
          <p:cNvPr id="16" name="ZoneTexte 15">
            <a:extLst>
              <a:ext uri="{FF2B5EF4-FFF2-40B4-BE49-F238E27FC236}">
                <a16:creationId xmlns:a16="http://schemas.microsoft.com/office/drawing/2014/main" id="{D1FD4A46-5208-43A7-B56F-DC793C6F64F0}"/>
              </a:ext>
            </a:extLst>
          </p:cNvPr>
          <p:cNvSpPr txBox="1"/>
          <p:nvPr/>
        </p:nvSpPr>
        <p:spPr>
          <a:xfrm>
            <a:off x="4482662" y="5091486"/>
            <a:ext cx="1094282" cy="369332"/>
          </a:xfrm>
          <a:prstGeom prst="rect">
            <a:avLst/>
          </a:prstGeom>
          <a:noFill/>
        </p:spPr>
        <p:txBody>
          <a:bodyPr wrap="square" rtlCol="0">
            <a:spAutoFit/>
          </a:bodyPr>
          <a:lstStyle/>
          <a:p>
            <a:r>
              <a:rPr lang="fr-FR" dirty="0"/>
              <a:t>x</a:t>
            </a:r>
          </a:p>
        </p:txBody>
      </p:sp>
      <p:sp>
        <p:nvSpPr>
          <p:cNvPr id="17" name="ZoneTexte 16">
            <a:extLst>
              <a:ext uri="{FF2B5EF4-FFF2-40B4-BE49-F238E27FC236}">
                <a16:creationId xmlns:a16="http://schemas.microsoft.com/office/drawing/2014/main" id="{68C02CD7-7362-4A10-BDF0-0163B0DC18F1}"/>
              </a:ext>
            </a:extLst>
          </p:cNvPr>
          <p:cNvSpPr txBox="1"/>
          <p:nvPr/>
        </p:nvSpPr>
        <p:spPr>
          <a:xfrm>
            <a:off x="4482662" y="5471155"/>
            <a:ext cx="1094282" cy="369332"/>
          </a:xfrm>
          <a:prstGeom prst="rect">
            <a:avLst/>
          </a:prstGeom>
          <a:noFill/>
        </p:spPr>
        <p:txBody>
          <a:bodyPr wrap="square" rtlCol="0">
            <a:spAutoFit/>
          </a:bodyPr>
          <a:lstStyle/>
          <a:p>
            <a:r>
              <a:rPr lang="fr-FR" dirty="0"/>
              <a:t>9975-x</a:t>
            </a:r>
          </a:p>
        </p:txBody>
      </p:sp>
    </p:spTree>
    <p:extLst>
      <p:ext uri="{BB962C8B-B14F-4D97-AF65-F5344CB8AC3E}">
        <p14:creationId xmlns:p14="http://schemas.microsoft.com/office/powerpoint/2010/main" val="208576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P spid="14"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9405226" cy="1179810"/>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 – Exercice </a:t>
            </a:r>
          </a:p>
          <a:p>
            <a:pPr>
              <a:lnSpc>
                <a:spcPts val="4583"/>
              </a:lnSpc>
            </a:pPr>
            <a:r>
              <a:rPr lang="fr-FR" sz="4000" spc="330" dirty="0">
                <a:solidFill>
                  <a:srgbClr val="202020"/>
                </a:solidFill>
              </a:rPr>
              <a:t>Remboursement </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graphicFrame>
        <p:nvGraphicFramePr>
          <p:cNvPr id="2" name="Tableau 4">
            <a:extLst>
              <a:ext uri="{FF2B5EF4-FFF2-40B4-BE49-F238E27FC236}">
                <a16:creationId xmlns:a16="http://schemas.microsoft.com/office/drawing/2014/main" id="{E0FC48B6-4429-46B4-BDFD-9682AD0B6DA8}"/>
              </a:ext>
            </a:extLst>
          </p:cNvPr>
          <p:cNvGraphicFramePr>
            <a:graphicFrameLocks noGrp="1"/>
          </p:cNvGraphicFramePr>
          <p:nvPr>
            <p:extLst>
              <p:ext uri="{D42A27DB-BD31-4B8C-83A1-F6EECF244321}">
                <p14:modId xmlns:p14="http://schemas.microsoft.com/office/powerpoint/2010/main" val="2181690961"/>
              </p:ext>
            </p:extLst>
          </p:nvPr>
        </p:nvGraphicFramePr>
        <p:xfrm>
          <a:off x="6686112" y="3429000"/>
          <a:ext cx="4953876" cy="2961640"/>
        </p:xfrm>
        <a:graphic>
          <a:graphicData uri="http://schemas.openxmlformats.org/drawingml/2006/table">
            <a:tbl>
              <a:tblPr firstRow="1" bandRow="1">
                <a:tableStyleId>{5C22544A-7EE6-4342-B048-85BDC9FD1C3A}</a:tableStyleId>
              </a:tblPr>
              <a:tblGrid>
                <a:gridCol w="2476938">
                  <a:extLst>
                    <a:ext uri="{9D8B030D-6E8A-4147-A177-3AD203B41FA5}">
                      <a16:colId xmlns:a16="http://schemas.microsoft.com/office/drawing/2014/main" val="1478389918"/>
                    </a:ext>
                  </a:extLst>
                </a:gridCol>
                <a:gridCol w="2476938">
                  <a:extLst>
                    <a:ext uri="{9D8B030D-6E8A-4147-A177-3AD203B41FA5}">
                      <a16:colId xmlns:a16="http://schemas.microsoft.com/office/drawing/2014/main" val="3841725658"/>
                    </a:ext>
                  </a:extLst>
                </a:gridCol>
              </a:tblGrid>
              <a:tr h="370840">
                <a:tc gridSpan="2">
                  <a:txBody>
                    <a:bodyPr/>
                    <a:lstStyle/>
                    <a:p>
                      <a:r>
                        <a:rPr lang="fr-FR" dirty="0"/>
                        <a:t>Remboursement des taxes </a:t>
                      </a:r>
                    </a:p>
                  </a:txBody>
                  <a:tcPr>
                    <a:solidFill>
                      <a:srgbClr val="FF0000"/>
                    </a:solidFill>
                  </a:tcPr>
                </a:tc>
                <a:tc hMerge="1">
                  <a:txBody>
                    <a:bodyPr/>
                    <a:lstStyle/>
                    <a:p>
                      <a:endParaRPr lang="fr-FR" dirty="0"/>
                    </a:p>
                  </a:txBody>
                  <a:tcPr>
                    <a:solidFill>
                      <a:srgbClr val="FF0000"/>
                    </a:solidFill>
                  </a:tcPr>
                </a:tc>
                <a:extLst>
                  <a:ext uri="{0D108BD9-81ED-4DB2-BD59-A6C34878D82A}">
                    <a16:rowId xmlns:a16="http://schemas.microsoft.com/office/drawing/2014/main" val="38962125"/>
                  </a:ext>
                </a:extLst>
              </a:tr>
              <a:tr h="370840">
                <a:tc>
                  <a:txBody>
                    <a:bodyPr/>
                    <a:lstStyle/>
                    <a:p>
                      <a:r>
                        <a:rPr lang="fr-FR" dirty="0"/>
                        <a:t>TPS encaissé (5%)</a:t>
                      </a:r>
                    </a:p>
                  </a:txBody>
                  <a:tcPr/>
                </a:tc>
                <a:tc>
                  <a:txBody>
                    <a:bodyPr/>
                    <a:lstStyle/>
                    <a:p>
                      <a:endParaRPr lang="fr-FR" dirty="0"/>
                    </a:p>
                  </a:txBody>
                  <a:tcPr/>
                </a:tc>
                <a:extLst>
                  <a:ext uri="{0D108BD9-81ED-4DB2-BD59-A6C34878D82A}">
                    <a16:rowId xmlns:a16="http://schemas.microsoft.com/office/drawing/2014/main" val="1332362656"/>
                  </a:ext>
                </a:extLst>
              </a:tr>
              <a:tr h="370840">
                <a:tc>
                  <a:txBody>
                    <a:bodyPr/>
                    <a:lstStyle/>
                    <a:p>
                      <a:r>
                        <a:rPr lang="fr-FR" dirty="0"/>
                        <a:t>TPS payé</a:t>
                      </a:r>
                    </a:p>
                  </a:txBody>
                  <a:tcPr/>
                </a:tc>
                <a:tc>
                  <a:txBody>
                    <a:bodyPr/>
                    <a:lstStyle/>
                    <a:p>
                      <a:endParaRPr lang="fr-FR" dirty="0"/>
                    </a:p>
                  </a:txBody>
                  <a:tcPr/>
                </a:tc>
                <a:extLst>
                  <a:ext uri="{0D108BD9-81ED-4DB2-BD59-A6C34878D82A}">
                    <a16:rowId xmlns:a16="http://schemas.microsoft.com/office/drawing/2014/main" val="612542214"/>
                  </a:ext>
                </a:extLst>
              </a:tr>
              <a:tr h="370840">
                <a:tc>
                  <a:txBody>
                    <a:bodyPr/>
                    <a:lstStyle/>
                    <a:p>
                      <a:r>
                        <a:rPr lang="fr-FR" dirty="0"/>
                        <a:t>TPS à remettre</a:t>
                      </a:r>
                    </a:p>
                  </a:txBody>
                  <a:tcPr/>
                </a:tc>
                <a:tc>
                  <a:txBody>
                    <a:bodyPr/>
                    <a:lstStyle/>
                    <a:p>
                      <a:endParaRPr lang="fr-FR" dirty="0"/>
                    </a:p>
                  </a:txBody>
                  <a:tcPr/>
                </a:tc>
                <a:extLst>
                  <a:ext uri="{0D108BD9-81ED-4DB2-BD59-A6C34878D82A}">
                    <a16:rowId xmlns:a16="http://schemas.microsoft.com/office/drawing/2014/main" val="687360486"/>
                  </a:ext>
                </a:extLst>
              </a:tr>
              <a:tr h="0">
                <a:tc>
                  <a:txBody>
                    <a:bodyPr/>
                    <a:lstStyle/>
                    <a:p>
                      <a:endParaRPr lang="fr-FR" dirty="0"/>
                    </a:p>
                  </a:txBody>
                  <a:tcPr/>
                </a:tc>
                <a:tc>
                  <a:txBody>
                    <a:bodyPr/>
                    <a:lstStyle/>
                    <a:p>
                      <a:endParaRPr lang="fr-FR" dirty="0"/>
                    </a:p>
                  </a:txBody>
                  <a:tcPr/>
                </a:tc>
                <a:extLst>
                  <a:ext uri="{0D108BD9-81ED-4DB2-BD59-A6C34878D82A}">
                    <a16:rowId xmlns:a16="http://schemas.microsoft.com/office/drawing/2014/main" val="1218146340"/>
                  </a:ext>
                </a:extLst>
              </a:tr>
              <a:tr h="370840">
                <a:tc>
                  <a:txBody>
                    <a:bodyPr/>
                    <a:lstStyle/>
                    <a:p>
                      <a:r>
                        <a:rPr lang="fr-FR" dirty="0"/>
                        <a:t>TVQ encaissé  (9,975%)</a:t>
                      </a:r>
                    </a:p>
                  </a:txBody>
                  <a:tcPr/>
                </a:tc>
                <a:tc>
                  <a:txBody>
                    <a:bodyPr/>
                    <a:lstStyle/>
                    <a:p>
                      <a:endParaRPr lang="fr-FR" dirty="0"/>
                    </a:p>
                  </a:txBody>
                  <a:tcPr/>
                </a:tc>
                <a:extLst>
                  <a:ext uri="{0D108BD9-81ED-4DB2-BD59-A6C34878D82A}">
                    <a16:rowId xmlns:a16="http://schemas.microsoft.com/office/drawing/2014/main" val="2356784273"/>
                  </a:ext>
                </a:extLst>
              </a:tr>
              <a:tr h="370840">
                <a:tc>
                  <a:txBody>
                    <a:bodyPr/>
                    <a:lstStyle/>
                    <a:p>
                      <a:r>
                        <a:rPr lang="fr-FR" dirty="0"/>
                        <a:t>TVQ payé</a:t>
                      </a:r>
                    </a:p>
                  </a:txBody>
                  <a:tcPr/>
                </a:tc>
                <a:tc>
                  <a:txBody>
                    <a:bodyPr/>
                    <a:lstStyle/>
                    <a:p>
                      <a:endParaRPr lang="fr-FR" dirty="0"/>
                    </a:p>
                  </a:txBody>
                  <a:tcPr/>
                </a:tc>
                <a:extLst>
                  <a:ext uri="{0D108BD9-81ED-4DB2-BD59-A6C34878D82A}">
                    <a16:rowId xmlns:a16="http://schemas.microsoft.com/office/drawing/2014/main" val="1099931752"/>
                  </a:ext>
                </a:extLst>
              </a:tr>
              <a:tr h="370840">
                <a:tc>
                  <a:txBody>
                    <a:bodyPr/>
                    <a:lstStyle/>
                    <a:p>
                      <a:r>
                        <a:rPr lang="fr-FR" dirty="0"/>
                        <a:t>TVQ à remettre</a:t>
                      </a:r>
                    </a:p>
                  </a:txBody>
                  <a:tcPr/>
                </a:tc>
                <a:tc>
                  <a:txBody>
                    <a:bodyPr/>
                    <a:lstStyle/>
                    <a:p>
                      <a:endParaRPr lang="fr-FR" dirty="0"/>
                    </a:p>
                  </a:txBody>
                  <a:tcPr/>
                </a:tc>
                <a:extLst>
                  <a:ext uri="{0D108BD9-81ED-4DB2-BD59-A6C34878D82A}">
                    <a16:rowId xmlns:a16="http://schemas.microsoft.com/office/drawing/2014/main" val="3463175354"/>
                  </a:ext>
                </a:extLst>
              </a:tr>
            </a:tbl>
          </a:graphicData>
        </a:graphic>
      </p:graphicFrame>
      <p:sp>
        <p:nvSpPr>
          <p:cNvPr id="5" name="ZoneTexte 4">
            <a:extLst>
              <a:ext uri="{FF2B5EF4-FFF2-40B4-BE49-F238E27FC236}">
                <a16:creationId xmlns:a16="http://schemas.microsoft.com/office/drawing/2014/main" id="{6D586659-FF12-49A7-B96B-333D40F69AAD}"/>
              </a:ext>
            </a:extLst>
          </p:cNvPr>
          <p:cNvSpPr txBox="1"/>
          <p:nvPr/>
        </p:nvSpPr>
        <p:spPr>
          <a:xfrm>
            <a:off x="2005724" y="2508693"/>
            <a:ext cx="3550526" cy="3416320"/>
          </a:xfrm>
          <a:prstGeom prst="rect">
            <a:avLst/>
          </a:prstGeom>
          <a:noFill/>
        </p:spPr>
        <p:txBody>
          <a:bodyPr wrap="square" rtlCol="0">
            <a:spAutoFit/>
          </a:bodyPr>
          <a:lstStyle/>
          <a:p>
            <a:r>
              <a:rPr lang="fr-FR" dirty="0"/>
              <a:t>Vous avez un chiffre d’affaires de 50 000$, donc, des encaissements de 57 487,50$. </a:t>
            </a:r>
          </a:p>
          <a:p>
            <a:endParaRPr lang="fr-FR" dirty="0"/>
          </a:p>
          <a:p>
            <a:pPr marL="285750" indent="-285750">
              <a:buFont typeface="Arial" panose="020B0604020202020204" pitchFamily="34" charset="0"/>
              <a:buChar char="•"/>
            </a:pPr>
            <a:r>
              <a:rPr lang="fr-FR" dirty="0"/>
              <a:t>Vous avez dépensé 5200$ incluant les taxes au </a:t>
            </a:r>
            <a:r>
              <a:rPr lang="fr-FR" dirty="0" err="1"/>
              <a:t>Bétonel</a:t>
            </a:r>
            <a:r>
              <a:rPr lang="fr-FR" dirty="0"/>
              <a:t>, </a:t>
            </a:r>
          </a:p>
          <a:p>
            <a:pPr marL="285750" indent="-285750">
              <a:buFont typeface="Arial" panose="020B0604020202020204" pitchFamily="34" charset="0"/>
              <a:buChar char="•"/>
            </a:pPr>
            <a:r>
              <a:rPr lang="fr-FR" dirty="0"/>
              <a:t>500$ d’essence incluant les taxes en lien avec votre travail  </a:t>
            </a:r>
          </a:p>
          <a:p>
            <a:pPr marL="285750" indent="-285750">
              <a:buFont typeface="Arial" panose="020B0604020202020204" pitchFamily="34" charset="0"/>
              <a:buChar char="•"/>
            </a:pPr>
            <a:r>
              <a:rPr lang="fr-FR" dirty="0"/>
              <a:t>600$ incluant les taxes pour les frais administratifs avec Quick books et un logiciel quelconque.   </a:t>
            </a:r>
          </a:p>
          <a:p>
            <a:pPr marL="285750" indent="-285750">
              <a:buFont typeface="Arial" panose="020B0604020202020204" pitchFamily="34" charset="0"/>
              <a:buChar char="•"/>
            </a:pPr>
            <a:r>
              <a:rPr lang="fr-FR" dirty="0"/>
              <a:t>15 000 de salaire et DAS.</a:t>
            </a:r>
          </a:p>
        </p:txBody>
      </p:sp>
      <p:graphicFrame>
        <p:nvGraphicFramePr>
          <p:cNvPr id="12" name="Tableau 4">
            <a:extLst>
              <a:ext uri="{FF2B5EF4-FFF2-40B4-BE49-F238E27FC236}">
                <a16:creationId xmlns:a16="http://schemas.microsoft.com/office/drawing/2014/main" id="{626FE91E-E8C3-4496-A525-14F20523918B}"/>
              </a:ext>
            </a:extLst>
          </p:cNvPr>
          <p:cNvGraphicFramePr>
            <a:graphicFrameLocks noGrp="1"/>
          </p:cNvGraphicFramePr>
          <p:nvPr>
            <p:extLst>
              <p:ext uri="{D42A27DB-BD31-4B8C-83A1-F6EECF244321}">
                <p14:modId xmlns:p14="http://schemas.microsoft.com/office/powerpoint/2010/main" val="913699348"/>
              </p:ext>
            </p:extLst>
          </p:nvPr>
        </p:nvGraphicFramePr>
        <p:xfrm>
          <a:off x="7687132" y="655319"/>
          <a:ext cx="3952873" cy="2118360"/>
        </p:xfrm>
        <a:graphic>
          <a:graphicData uri="http://schemas.openxmlformats.org/drawingml/2006/table">
            <a:tbl>
              <a:tblPr firstRow="1" bandRow="1">
                <a:tableStyleId>{5C22544A-7EE6-4342-B048-85BDC9FD1C3A}</a:tableStyleId>
              </a:tblPr>
              <a:tblGrid>
                <a:gridCol w="2457450">
                  <a:extLst>
                    <a:ext uri="{9D8B030D-6E8A-4147-A177-3AD203B41FA5}">
                      <a16:colId xmlns:a16="http://schemas.microsoft.com/office/drawing/2014/main" val="1478389918"/>
                    </a:ext>
                  </a:extLst>
                </a:gridCol>
                <a:gridCol w="1495423">
                  <a:extLst>
                    <a:ext uri="{9D8B030D-6E8A-4147-A177-3AD203B41FA5}">
                      <a16:colId xmlns:a16="http://schemas.microsoft.com/office/drawing/2014/main" val="3841725658"/>
                    </a:ext>
                  </a:extLst>
                </a:gridCol>
              </a:tblGrid>
              <a:tr h="370840">
                <a:tc gridSpan="2">
                  <a:txBody>
                    <a:bodyPr/>
                    <a:lstStyle/>
                    <a:p>
                      <a:r>
                        <a:rPr lang="fr-FR" dirty="0"/>
                        <a:t>Taxes payées</a:t>
                      </a:r>
                    </a:p>
                  </a:txBody>
                  <a:tcPr>
                    <a:solidFill>
                      <a:srgbClr val="FF0000"/>
                    </a:solidFill>
                  </a:tcPr>
                </a:tc>
                <a:tc hMerge="1">
                  <a:txBody>
                    <a:bodyPr/>
                    <a:lstStyle/>
                    <a:p>
                      <a:endParaRPr lang="fr-FR" dirty="0"/>
                    </a:p>
                  </a:txBody>
                  <a:tcPr>
                    <a:solidFill>
                      <a:srgbClr val="FF0000"/>
                    </a:solidFill>
                  </a:tcPr>
                </a:tc>
                <a:extLst>
                  <a:ext uri="{0D108BD9-81ED-4DB2-BD59-A6C34878D82A}">
                    <a16:rowId xmlns:a16="http://schemas.microsoft.com/office/drawing/2014/main" val="38962125"/>
                  </a:ext>
                </a:extLst>
              </a:tr>
              <a:tr h="370840">
                <a:tc>
                  <a:txBody>
                    <a:bodyPr/>
                    <a:lstStyle/>
                    <a:p>
                      <a:r>
                        <a:rPr lang="fr-FR" dirty="0"/>
                        <a:t>Total des dépenses incluant les taxes</a:t>
                      </a:r>
                    </a:p>
                  </a:txBody>
                  <a:tcPr/>
                </a:tc>
                <a:tc>
                  <a:txBody>
                    <a:bodyPr/>
                    <a:lstStyle/>
                    <a:p>
                      <a:endParaRPr lang="fr-FR" dirty="0"/>
                    </a:p>
                  </a:txBody>
                  <a:tcPr/>
                </a:tc>
                <a:extLst>
                  <a:ext uri="{0D108BD9-81ED-4DB2-BD59-A6C34878D82A}">
                    <a16:rowId xmlns:a16="http://schemas.microsoft.com/office/drawing/2014/main" val="1332362656"/>
                  </a:ext>
                </a:extLst>
              </a:tr>
              <a:tr h="370840">
                <a:tc>
                  <a:txBody>
                    <a:bodyPr/>
                    <a:lstStyle/>
                    <a:p>
                      <a:r>
                        <a:rPr lang="fr-FR" dirty="0"/>
                        <a:t>Excluant les taxes</a:t>
                      </a:r>
                    </a:p>
                  </a:txBody>
                  <a:tcPr/>
                </a:tc>
                <a:tc>
                  <a:txBody>
                    <a:bodyPr/>
                    <a:lstStyle/>
                    <a:p>
                      <a:endParaRPr lang="fr-FR" dirty="0"/>
                    </a:p>
                  </a:txBody>
                  <a:tcPr/>
                </a:tc>
                <a:extLst>
                  <a:ext uri="{0D108BD9-81ED-4DB2-BD59-A6C34878D82A}">
                    <a16:rowId xmlns:a16="http://schemas.microsoft.com/office/drawing/2014/main" val="612542214"/>
                  </a:ext>
                </a:extLst>
              </a:tr>
              <a:tr h="370840">
                <a:tc>
                  <a:txBody>
                    <a:bodyPr/>
                    <a:lstStyle/>
                    <a:p>
                      <a:r>
                        <a:rPr lang="fr-FR" dirty="0"/>
                        <a:t>TPS payé</a:t>
                      </a:r>
                    </a:p>
                  </a:txBody>
                  <a:tcPr/>
                </a:tc>
                <a:tc>
                  <a:txBody>
                    <a:bodyPr/>
                    <a:lstStyle/>
                    <a:p>
                      <a:endParaRPr lang="fr-FR" dirty="0"/>
                    </a:p>
                  </a:txBody>
                  <a:tcPr/>
                </a:tc>
                <a:extLst>
                  <a:ext uri="{0D108BD9-81ED-4DB2-BD59-A6C34878D82A}">
                    <a16:rowId xmlns:a16="http://schemas.microsoft.com/office/drawing/2014/main" val="687360486"/>
                  </a:ext>
                </a:extLst>
              </a:tr>
              <a:tr h="0">
                <a:tc>
                  <a:txBody>
                    <a:bodyPr/>
                    <a:lstStyle/>
                    <a:p>
                      <a:r>
                        <a:rPr lang="fr-FR" dirty="0"/>
                        <a:t>TVQ payé</a:t>
                      </a:r>
                    </a:p>
                  </a:txBody>
                  <a:tcPr/>
                </a:tc>
                <a:tc>
                  <a:txBody>
                    <a:bodyPr/>
                    <a:lstStyle/>
                    <a:p>
                      <a:endParaRPr lang="fr-FR" dirty="0"/>
                    </a:p>
                  </a:txBody>
                  <a:tcPr/>
                </a:tc>
                <a:extLst>
                  <a:ext uri="{0D108BD9-81ED-4DB2-BD59-A6C34878D82A}">
                    <a16:rowId xmlns:a16="http://schemas.microsoft.com/office/drawing/2014/main" val="1218146340"/>
                  </a:ext>
                </a:extLst>
              </a:tr>
            </a:tbl>
          </a:graphicData>
        </a:graphic>
      </p:graphicFrame>
      <p:sp>
        <p:nvSpPr>
          <p:cNvPr id="14" name="ZoneTexte 13">
            <a:extLst>
              <a:ext uri="{FF2B5EF4-FFF2-40B4-BE49-F238E27FC236}">
                <a16:creationId xmlns:a16="http://schemas.microsoft.com/office/drawing/2014/main" id="{905C79A4-3080-462A-BC2A-64E195AE3DC5}"/>
              </a:ext>
            </a:extLst>
          </p:cNvPr>
          <p:cNvSpPr txBox="1"/>
          <p:nvPr/>
        </p:nvSpPr>
        <p:spPr>
          <a:xfrm>
            <a:off x="654406" y="6067474"/>
            <a:ext cx="6253162" cy="646331"/>
          </a:xfrm>
          <a:prstGeom prst="rect">
            <a:avLst/>
          </a:prstGeom>
          <a:noFill/>
        </p:spPr>
        <p:txBody>
          <a:bodyPr wrap="square">
            <a:spAutoFit/>
          </a:bodyPr>
          <a:lstStyle/>
          <a:p>
            <a:r>
              <a:rPr lang="fr-FR" u="sng" dirty="0">
                <a:solidFill>
                  <a:schemeClr val="accent1"/>
                </a:solidFill>
              </a:rPr>
              <a:t>http://www.calculconversion.com/calcul-taxes-tps-tvq-inverse.html</a:t>
            </a:r>
          </a:p>
        </p:txBody>
      </p:sp>
      <p:graphicFrame>
        <p:nvGraphicFramePr>
          <p:cNvPr id="16" name="Tableau 4">
            <a:extLst>
              <a:ext uri="{FF2B5EF4-FFF2-40B4-BE49-F238E27FC236}">
                <a16:creationId xmlns:a16="http://schemas.microsoft.com/office/drawing/2014/main" id="{6D5C48F1-F5A0-4DA6-984F-224CCA41C03F}"/>
              </a:ext>
            </a:extLst>
          </p:cNvPr>
          <p:cNvGraphicFramePr>
            <a:graphicFrameLocks noGrp="1"/>
          </p:cNvGraphicFramePr>
          <p:nvPr>
            <p:extLst>
              <p:ext uri="{D42A27DB-BD31-4B8C-83A1-F6EECF244321}">
                <p14:modId xmlns:p14="http://schemas.microsoft.com/office/powerpoint/2010/main" val="1426623713"/>
              </p:ext>
            </p:extLst>
          </p:nvPr>
        </p:nvGraphicFramePr>
        <p:xfrm>
          <a:off x="6695637" y="3435350"/>
          <a:ext cx="4953876" cy="2961640"/>
        </p:xfrm>
        <a:graphic>
          <a:graphicData uri="http://schemas.openxmlformats.org/drawingml/2006/table">
            <a:tbl>
              <a:tblPr firstRow="1" bandRow="1">
                <a:tableStyleId>{5C22544A-7EE6-4342-B048-85BDC9FD1C3A}</a:tableStyleId>
              </a:tblPr>
              <a:tblGrid>
                <a:gridCol w="2476938">
                  <a:extLst>
                    <a:ext uri="{9D8B030D-6E8A-4147-A177-3AD203B41FA5}">
                      <a16:colId xmlns:a16="http://schemas.microsoft.com/office/drawing/2014/main" val="1478389918"/>
                    </a:ext>
                  </a:extLst>
                </a:gridCol>
                <a:gridCol w="2476938">
                  <a:extLst>
                    <a:ext uri="{9D8B030D-6E8A-4147-A177-3AD203B41FA5}">
                      <a16:colId xmlns:a16="http://schemas.microsoft.com/office/drawing/2014/main" val="3841725658"/>
                    </a:ext>
                  </a:extLst>
                </a:gridCol>
              </a:tblGrid>
              <a:tr h="370840">
                <a:tc gridSpan="2">
                  <a:txBody>
                    <a:bodyPr/>
                    <a:lstStyle/>
                    <a:p>
                      <a:r>
                        <a:rPr lang="fr-FR" dirty="0"/>
                        <a:t>Remboursement des taxes </a:t>
                      </a:r>
                    </a:p>
                  </a:txBody>
                  <a:tcPr>
                    <a:solidFill>
                      <a:srgbClr val="FF0000"/>
                    </a:solidFill>
                  </a:tcPr>
                </a:tc>
                <a:tc hMerge="1">
                  <a:txBody>
                    <a:bodyPr/>
                    <a:lstStyle/>
                    <a:p>
                      <a:endParaRPr lang="fr-FR" dirty="0"/>
                    </a:p>
                  </a:txBody>
                  <a:tcPr>
                    <a:solidFill>
                      <a:srgbClr val="FF0000"/>
                    </a:solidFill>
                  </a:tcPr>
                </a:tc>
                <a:extLst>
                  <a:ext uri="{0D108BD9-81ED-4DB2-BD59-A6C34878D82A}">
                    <a16:rowId xmlns:a16="http://schemas.microsoft.com/office/drawing/2014/main" val="38962125"/>
                  </a:ext>
                </a:extLst>
              </a:tr>
              <a:tr h="370840">
                <a:tc>
                  <a:txBody>
                    <a:bodyPr/>
                    <a:lstStyle/>
                    <a:p>
                      <a:r>
                        <a:rPr lang="fr-FR" dirty="0"/>
                        <a:t>TPS encaissé (5%)</a:t>
                      </a:r>
                    </a:p>
                  </a:txBody>
                  <a:tcPr/>
                </a:tc>
                <a:tc>
                  <a:txBody>
                    <a:bodyPr/>
                    <a:lstStyle/>
                    <a:p>
                      <a:r>
                        <a:rPr lang="fr-FR" dirty="0"/>
                        <a:t>2500 $</a:t>
                      </a:r>
                    </a:p>
                  </a:txBody>
                  <a:tcPr/>
                </a:tc>
                <a:extLst>
                  <a:ext uri="{0D108BD9-81ED-4DB2-BD59-A6C34878D82A}">
                    <a16:rowId xmlns:a16="http://schemas.microsoft.com/office/drawing/2014/main" val="1332362656"/>
                  </a:ext>
                </a:extLst>
              </a:tr>
              <a:tr h="370840">
                <a:tc>
                  <a:txBody>
                    <a:bodyPr/>
                    <a:lstStyle/>
                    <a:p>
                      <a:r>
                        <a:rPr lang="fr-FR" dirty="0"/>
                        <a:t>TPS payé</a:t>
                      </a:r>
                    </a:p>
                  </a:txBody>
                  <a:tcPr/>
                </a:tc>
                <a:tc>
                  <a:txBody>
                    <a:bodyPr/>
                    <a:lstStyle/>
                    <a:p>
                      <a:r>
                        <a:rPr lang="fr-FR" dirty="0"/>
                        <a:t>273,97 $</a:t>
                      </a:r>
                    </a:p>
                  </a:txBody>
                  <a:tcPr/>
                </a:tc>
                <a:extLst>
                  <a:ext uri="{0D108BD9-81ED-4DB2-BD59-A6C34878D82A}">
                    <a16:rowId xmlns:a16="http://schemas.microsoft.com/office/drawing/2014/main" val="612542214"/>
                  </a:ext>
                </a:extLst>
              </a:tr>
              <a:tr h="370840">
                <a:tc>
                  <a:txBody>
                    <a:bodyPr/>
                    <a:lstStyle/>
                    <a:p>
                      <a:r>
                        <a:rPr lang="fr-FR" dirty="0"/>
                        <a:t>TPS à remettre</a:t>
                      </a:r>
                    </a:p>
                  </a:txBody>
                  <a:tcPr/>
                </a:tc>
                <a:tc>
                  <a:txBody>
                    <a:bodyPr/>
                    <a:lstStyle/>
                    <a:p>
                      <a:r>
                        <a:rPr lang="fr-FR" dirty="0"/>
                        <a:t>2226,03 $</a:t>
                      </a:r>
                    </a:p>
                  </a:txBody>
                  <a:tcPr/>
                </a:tc>
                <a:extLst>
                  <a:ext uri="{0D108BD9-81ED-4DB2-BD59-A6C34878D82A}">
                    <a16:rowId xmlns:a16="http://schemas.microsoft.com/office/drawing/2014/main" val="687360486"/>
                  </a:ext>
                </a:extLst>
              </a:tr>
              <a:tr h="0">
                <a:tc>
                  <a:txBody>
                    <a:bodyPr/>
                    <a:lstStyle/>
                    <a:p>
                      <a:endParaRPr lang="fr-FR" dirty="0"/>
                    </a:p>
                  </a:txBody>
                  <a:tcPr/>
                </a:tc>
                <a:tc>
                  <a:txBody>
                    <a:bodyPr/>
                    <a:lstStyle/>
                    <a:p>
                      <a:endParaRPr lang="fr-FR" dirty="0"/>
                    </a:p>
                  </a:txBody>
                  <a:tcPr/>
                </a:tc>
                <a:extLst>
                  <a:ext uri="{0D108BD9-81ED-4DB2-BD59-A6C34878D82A}">
                    <a16:rowId xmlns:a16="http://schemas.microsoft.com/office/drawing/2014/main" val="1218146340"/>
                  </a:ext>
                </a:extLst>
              </a:tr>
              <a:tr h="370840">
                <a:tc>
                  <a:txBody>
                    <a:bodyPr/>
                    <a:lstStyle/>
                    <a:p>
                      <a:r>
                        <a:rPr lang="fr-FR" dirty="0"/>
                        <a:t>TVQ encaissé  (9,975%)</a:t>
                      </a:r>
                    </a:p>
                  </a:txBody>
                  <a:tcPr/>
                </a:tc>
                <a:tc>
                  <a:txBody>
                    <a:bodyPr/>
                    <a:lstStyle/>
                    <a:p>
                      <a:r>
                        <a:rPr lang="fr-FR" dirty="0"/>
                        <a:t>4987,50$</a:t>
                      </a:r>
                    </a:p>
                  </a:txBody>
                  <a:tcPr/>
                </a:tc>
                <a:extLst>
                  <a:ext uri="{0D108BD9-81ED-4DB2-BD59-A6C34878D82A}">
                    <a16:rowId xmlns:a16="http://schemas.microsoft.com/office/drawing/2014/main" val="2356784273"/>
                  </a:ext>
                </a:extLst>
              </a:tr>
              <a:tr h="370840">
                <a:tc>
                  <a:txBody>
                    <a:bodyPr/>
                    <a:lstStyle/>
                    <a:p>
                      <a:r>
                        <a:rPr lang="fr-FR" dirty="0"/>
                        <a:t>TVQ payé</a:t>
                      </a:r>
                    </a:p>
                  </a:txBody>
                  <a:tcPr/>
                </a:tc>
                <a:tc>
                  <a:txBody>
                    <a:bodyPr/>
                    <a:lstStyle/>
                    <a:p>
                      <a:r>
                        <a:rPr lang="fr-FR" dirty="0"/>
                        <a:t>546,57 $</a:t>
                      </a:r>
                    </a:p>
                  </a:txBody>
                  <a:tcPr/>
                </a:tc>
                <a:extLst>
                  <a:ext uri="{0D108BD9-81ED-4DB2-BD59-A6C34878D82A}">
                    <a16:rowId xmlns:a16="http://schemas.microsoft.com/office/drawing/2014/main" val="1099931752"/>
                  </a:ext>
                </a:extLst>
              </a:tr>
              <a:tr h="370840">
                <a:tc>
                  <a:txBody>
                    <a:bodyPr/>
                    <a:lstStyle/>
                    <a:p>
                      <a:r>
                        <a:rPr lang="fr-FR" dirty="0"/>
                        <a:t>TVQ à remettre</a:t>
                      </a:r>
                    </a:p>
                  </a:txBody>
                  <a:tcPr/>
                </a:tc>
                <a:tc>
                  <a:txBody>
                    <a:bodyPr/>
                    <a:lstStyle/>
                    <a:p>
                      <a:r>
                        <a:rPr lang="fr-FR" dirty="0"/>
                        <a:t>4440,92 $</a:t>
                      </a:r>
                    </a:p>
                  </a:txBody>
                  <a:tcPr/>
                </a:tc>
                <a:extLst>
                  <a:ext uri="{0D108BD9-81ED-4DB2-BD59-A6C34878D82A}">
                    <a16:rowId xmlns:a16="http://schemas.microsoft.com/office/drawing/2014/main" val="3463175354"/>
                  </a:ext>
                </a:extLst>
              </a:tr>
            </a:tbl>
          </a:graphicData>
        </a:graphic>
      </p:graphicFrame>
      <p:sp>
        <p:nvSpPr>
          <p:cNvPr id="17" name="ZoneTexte 16">
            <a:extLst>
              <a:ext uri="{FF2B5EF4-FFF2-40B4-BE49-F238E27FC236}">
                <a16:creationId xmlns:a16="http://schemas.microsoft.com/office/drawing/2014/main" id="{DFFFA8A3-B149-4265-9E06-2C0D234CB13B}"/>
              </a:ext>
            </a:extLst>
          </p:cNvPr>
          <p:cNvSpPr txBox="1"/>
          <p:nvPr/>
        </p:nvSpPr>
        <p:spPr>
          <a:xfrm>
            <a:off x="10316668" y="1116779"/>
            <a:ext cx="1094282" cy="369332"/>
          </a:xfrm>
          <a:prstGeom prst="rect">
            <a:avLst/>
          </a:prstGeom>
          <a:noFill/>
        </p:spPr>
        <p:txBody>
          <a:bodyPr wrap="square" rtlCol="0">
            <a:spAutoFit/>
          </a:bodyPr>
          <a:lstStyle/>
          <a:p>
            <a:r>
              <a:rPr lang="fr-FR" dirty="0"/>
              <a:t>6300</a:t>
            </a:r>
          </a:p>
        </p:txBody>
      </p:sp>
      <p:sp>
        <p:nvSpPr>
          <p:cNvPr id="18" name="ZoneTexte 17">
            <a:extLst>
              <a:ext uri="{FF2B5EF4-FFF2-40B4-BE49-F238E27FC236}">
                <a16:creationId xmlns:a16="http://schemas.microsoft.com/office/drawing/2014/main" id="{E3B7AC0A-19D0-4DAA-AAED-356F7BF36742}"/>
              </a:ext>
            </a:extLst>
          </p:cNvPr>
          <p:cNvSpPr txBox="1"/>
          <p:nvPr/>
        </p:nvSpPr>
        <p:spPr>
          <a:xfrm>
            <a:off x="10316668" y="1658058"/>
            <a:ext cx="1094282" cy="369332"/>
          </a:xfrm>
          <a:prstGeom prst="rect">
            <a:avLst/>
          </a:prstGeom>
          <a:noFill/>
        </p:spPr>
        <p:txBody>
          <a:bodyPr wrap="square" rtlCol="0">
            <a:spAutoFit/>
          </a:bodyPr>
          <a:lstStyle/>
          <a:p>
            <a:r>
              <a:rPr lang="fr-FR" dirty="0"/>
              <a:t>5479,45$</a:t>
            </a:r>
          </a:p>
        </p:txBody>
      </p:sp>
      <p:sp>
        <p:nvSpPr>
          <p:cNvPr id="19" name="ZoneTexte 18">
            <a:extLst>
              <a:ext uri="{FF2B5EF4-FFF2-40B4-BE49-F238E27FC236}">
                <a16:creationId xmlns:a16="http://schemas.microsoft.com/office/drawing/2014/main" id="{8B661719-FC8B-44B6-92DD-4ADE4CEBD005}"/>
              </a:ext>
            </a:extLst>
          </p:cNvPr>
          <p:cNvSpPr txBox="1"/>
          <p:nvPr/>
        </p:nvSpPr>
        <p:spPr>
          <a:xfrm>
            <a:off x="10316668" y="2024276"/>
            <a:ext cx="1094282" cy="369332"/>
          </a:xfrm>
          <a:prstGeom prst="rect">
            <a:avLst/>
          </a:prstGeom>
          <a:noFill/>
        </p:spPr>
        <p:txBody>
          <a:bodyPr wrap="square" rtlCol="0">
            <a:spAutoFit/>
          </a:bodyPr>
          <a:lstStyle/>
          <a:p>
            <a:r>
              <a:rPr lang="fr-FR" dirty="0"/>
              <a:t>273,97</a:t>
            </a:r>
          </a:p>
        </p:txBody>
      </p:sp>
      <p:sp>
        <p:nvSpPr>
          <p:cNvPr id="20" name="ZoneTexte 19">
            <a:extLst>
              <a:ext uri="{FF2B5EF4-FFF2-40B4-BE49-F238E27FC236}">
                <a16:creationId xmlns:a16="http://schemas.microsoft.com/office/drawing/2014/main" id="{59F848D0-A691-4393-A2F9-D204F9298F86}"/>
              </a:ext>
            </a:extLst>
          </p:cNvPr>
          <p:cNvSpPr txBox="1"/>
          <p:nvPr/>
        </p:nvSpPr>
        <p:spPr>
          <a:xfrm>
            <a:off x="10316668" y="2367350"/>
            <a:ext cx="1094282" cy="369332"/>
          </a:xfrm>
          <a:prstGeom prst="rect">
            <a:avLst/>
          </a:prstGeom>
          <a:noFill/>
        </p:spPr>
        <p:txBody>
          <a:bodyPr wrap="square" rtlCol="0">
            <a:spAutoFit/>
          </a:bodyPr>
          <a:lstStyle/>
          <a:p>
            <a:r>
              <a:rPr lang="fr-FR" dirty="0"/>
              <a:t>546,57 $</a:t>
            </a:r>
          </a:p>
        </p:txBody>
      </p:sp>
    </p:spTree>
    <p:extLst>
      <p:ext uri="{BB962C8B-B14F-4D97-AF65-F5344CB8AC3E}">
        <p14:creationId xmlns:p14="http://schemas.microsoft.com/office/powerpoint/2010/main" val="392783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005724" y="655988"/>
            <a:ext cx="8668761" cy="589905"/>
          </a:xfrm>
          <a:prstGeom prst="rect">
            <a:avLst/>
          </a:prstGeom>
        </p:spPr>
        <p:txBody>
          <a:bodyPr wrap="square" lIns="0" tIns="0" rIns="0" bIns="0" rtlCol="0" anchor="t">
            <a:spAutoFit/>
          </a:bodyPr>
          <a:lstStyle/>
          <a:p>
            <a:pPr>
              <a:lnSpc>
                <a:spcPts val="4583"/>
              </a:lnSpc>
            </a:pPr>
            <a:r>
              <a:rPr lang="fr-FR" sz="4000" spc="330" dirty="0">
                <a:solidFill>
                  <a:srgbClr val="202020"/>
                </a:solidFill>
              </a:rPr>
              <a:t>LES TAXES – Trucs maisons</a:t>
            </a:r>
          </a:p>
        </p:txBody>
      </p:sp>
      <p:sp>
        <p:nvSpPr>
          <p:cNvPr id="6" name="Google Shape;95;p2">
            <a:extLst>
              <a:ext uri="{FF2B5EF4-FFF2-40B4-BE49-F238E27FC236}">
                <a16:creationId xmlns:a16="http://schemas.microsoft.com/office/drawing/2014/main" id="{E6D857FB-666B-45DA-9E6A-17762CAC727F}"/>
              </a:ext>
            </a:extLst>
          </p:cNvPr>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7" name="Google Shape;96;p2">
            <a:extLst>
              <a:ext uri="{FF2B5EF4-FFF2-40B4-BE49-F238E27FC236}">
                <a16:creationId xmlns:a16="http://schemas.microsoft.com/office/drawing/2014/main" id="{5C7299C3-46DB-40C2-89BC-F65715DAC6BA}"/>
              </a:ext>
            </a:extLst>
          </p:cNvPr>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8" name="Google Shape;99;p2">
            <a:extLst>
              <a:ext uri="{FF2B5EF4-FFF2-40B4-BE49-F238E27FC236}">
                <a16:creationId xmlns:a16="http://schemas.microsoft.com/office/drawing/2014/main" id="{8FD8E24A-E392-4F22-9C5B-94721EF41072}"/>
              </a:ext>
            </a:extLst>
          </p:cNvPr>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ZoneTexte 2">
            <a:extLst>
              <a:ext uri="{FF2B5EF4-FFF2-40B4-BE49-F238E27FC236}">
                <a16:creationId xmlns:a16="http://schemas.microsoft.com/office/drawing/2014/main" id="{C7FA3E12-DAA8-47FA-9E22-F64E87CF70BB}"/>
              </a:ext>
            </a:extLst>
          </p:cNvPr>
          <p:cNvSpPr txBox="1"/>
          <p:nvPr/>
        </p:nvSpPr>
        <p:spPr>
          <a:xfrm>
            <a:off x="2005724" y="1865463"/>
            <a:ext cx="7509751" cy="5324535"/>
          </a:xfrm>
          <a:prstGeom prst="rect">
            <a:avLst/>
          </a:prstGeom>
          <a:noFill/>
        </p:spPr>
        <p:txBody>
          <a:bodyPr wrap="square" rtlCol="0">
            <a:spAutoFit/>
          </a:bodyPr>
          <a:lstStyle/>
          <a:p>
            <a:pPr marL="342900" indent="-342900">
              <a:buFont typeface="+mj-lt"/>
              <a:buAutoNum type="arabicPeriod"/>
            </a:pPr>
            <a:r>
              <a:rPr lang="fr-FR" sz="2000" dirty="0">
                <a:sym typeface="Wingdings" panose="05000000000000000000" pitchFamily="2" charset="2"/>
              </a:rPr>
              <a:t>Payez vos DAS et taxes à temps.</a:t>
            </a:r>
          </a:p>
          <a:p>
            <a:pPr marL="342900" indent="-342900">
              <a:buFont typeface="+mj-lt"/>
              <a:buAutoNum type="arabicPeriod"/>
            </a:pPr>
            <a:endParaRPr lang="fr-FR" sz="2000" dirty="0">
              <a:sym typeface="Wingdings" panose="05000000000000000000" pitchFamily="2" charset="2"/>
            </a:endParaRPr>
          </a:p>
          <a:p>
            <a:pPr marL="342900" indent="-342900">
              <a:buFont typeface="+mj-lt"/>
              <a:buAutoNum type="arabicPeriod"/>
            </a:pPr>
            <a:r>
              <a:rPr lang="fr-FR" sz="2000" dirty="0">
                <a:sym typeface="Wingdings" panose="05000000000000000000" pitchFamily="2" charset="2"/>
              </a:rPr>
              <a:t>Ne dépensez pas l’argent de vos taxes.</a:t>
            </a:r>
          </a:p>
          <a:p>
            <a:pPr marL="342900" indent="-342900">
              <a:buFont typeface="+mj-lt"/>
              <a:buAutoNum type="arabicPeriod"/>
            </a:pPr>
            <a:endParaRPr lang="fr-FR" sz="2000" dirty="0">
              <a:sym typeface="Wingdings" panose="05000000000000000000" pitchFamily="2" charset="2"/>
            </a:endParaRPr>
          </a:p>
          <a:p>
            <a:pPr marL="342900" indent="-342900">
              <a:buFont typeface="+mj-lt"/>
              <a:buAutoNum type="arabicPeriod"/>
            </a:pPr>
            <a:r>
              <a:rPr lang="fr-FR" sz="2000" dirty="0">
                <a:sym typeface="Wingdings" panose="05000000000000000000" pitchFamily="2" charset="2"/>
              </a:rPr>
              <a:t>Gardez vos factures reliées au travail afin de diminuer les taxes à remettre.</a:t>
            </a:r>
          </a:p>
          <a:p>
            <a:pPr marL="342900" indent="-342900">
              <a:buFont typeface="+mj-lt"/>
              <a:buAutoNum type="arabicPeriod"/>
            </a:pPr>
            <a:endParaRPr lang="fr-FR" sz="2000" dirty="0">
              <a:sym typeface="Wingdings" panose="05000000000000000000" pitchFamily="2" charset="2"/>
            </a:endParaRPr>
          </a:p>
          <a:p>
            <a:pPr marL="800100" lvl="1" indent="-342900">
              <a:buFont typeface="Arial" panose="020B0604020202020204" pitchFamily="34" charset="0"/>
              <a:buChar char="•"/>
            </a:pPr>
            <a:r>
              <a:rPr lang="fr-FR" sz="2000" dirty="0">
                <a:sym typeface="Wingdings" panose="05000000000000000000" pitchFamily="2" charset="2"/>
              </a:rPr>
              <a:t>Restaurant (50%)</a:t>
            </a:r>
          </a:p>
          <a:p>
            <a:pPr marL="800100" lvl="1" indent="-342900">
              <a:buFont typeface="Arial" panose="020B0604020202020204" pitchFamily="34" charset="0"/>
              <a:buChar char="•"/>
            </a:pPr>
            <a:r>
              <a:rPr lang="fr-FR" sz="2000" dirty="0">
                <a:sym typeface="Wingdings" panose="05000000000000000000" pitchFamily="2" charset="2"/>
              </a:rPr>
              <a:t>Peinture</a:t>
            </a:r>
          </a:p>
          <a:p>
            <a:pPr marL="800100" lvl="1" indent="-342900">
              <a:buFont typeface="Arial" panose="020B0604020202020204" pitchFamily="34" charset="0"/>
              <a:buChar char="•"/>
            </a:pPr>
            <a:r>
              <a:rPr lang="fr-FR" sz="2000" dirty="0">
                <a:sym typeface="Wingdings" panose="05000000000000000000" pitchFamily="2" charset="2"/>
              </a:rPr>
              <a:t>Matériaux</a:t>
            </a:r>
          </a:p>
          <a:p>
            <a:pPr marL="800100" lvl="1" indent="-342900">
              <a:buFont typeface="Arial" panose="020B0604020202020204" pitchFamily="34" charset="0"/>
              <a:buChar char="•"/>
            </a:pPr>
            <a:r>
              <a:rPr lang="fr-FR" sz="2000" dirty="0">
                <a:sym typeface="Wingdings" panose="05000000000000000000" pitchFamily="2" charset="2"/>
              </a:rPr>
              <a:t>Essence</a:t>
            </a:r>
          </a:p>
          <a:p>
            <a:pPr marL="800100" lvl="1" indent="-342900">
              <a:buFont typeface="Arial" panose="020B0604020202020204" pitchFamily="34" charset="0"/>
              <a:buChar char="•"/>
            </a:pPr>
            <a:r>
              <a:rPr lang="fr-FR" sz="2000" dirty="0">
                <a:sym typeface="Wingdings" panose="05000000000000000000" pitchFamily="2" charset="2"/>
              </a:rPr>
              <a:t>Frais administratif</a:t>
            </a:r>
          </a:p>
          <a:p>
            <a:pPr marL="800100" lvl="1" indent="-342900">
              <a:buFont typeface="Arial" panose="020B0604020202020204" pitchFamily="34" charset="0"/>
              <a:buChar char="•"/>
            </a:pPr>
            <a:r>
              <a:rPr lang="fr-FR" sz="2000" dirty="0">
                <a:sym typeface="Wingdings" panose="05000000000000000000" pitchFamily="2" charset="2"/>
              </a:rPr>
              <a:t>Royautés à QE</a:t>
            </a:r>
          </a:p>
          <a:p>
            <a:endParaRPr lang="fr-FR" sz="2000" dirty="0">
              <a:sym typeface="Wingdings" panose="05000000000000000000" pitchFamily="2" charset="2"/>
            </a:endParaRPr>
          </a:p>
          <a:p>
            <a:endParaRPr lang="fr-FR" sz="2000" dirty="0">
              <a:sym typeface="Wingdings" panose="05000000000000000000" pitchFamily="2" charset="2"/>
            </a:endParaRPr>
          </a:p>
          <a:p>
            <a:endParaRPr lang="fr-FR" sz="2000" dirty="0">
              <a:sym typeface="Wingdings" panose="05000000000000000000" pitchFamily="2" charset="2"/>
            </a:endParaRPr>
          </a:p>
          <a:p>
            <a:endParaRPr lang="fr-FR" sz="2000" dirty="0"/>
          </a:p>
        </p:txBody>
      </p:sp>
      <p:pic>
        <p:nvPicPr>
          <p:cNvPr id="9" name="Image 8" descr="Une image contenant texte, tableau blanc&#10;&#10;Description générée automatiquement">
            <a:extLst>
              <a:ext uri="{FF2B5EF4-FFF2-40B4-BE49-F238E27FC236}">
                <a16:creationId xmlns:a16="http://schemas.microsoft.com/office/drawing/2014/main" id="{9C7569AD-9757-49AC-AC87-53EB6BDC607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040087" y="4238625"/>
            <a:ext cx="1954937" cy="1708150"/>
          </a:xfrm>
          <a:prstGeom prst="rect">
            <a:avLst/>
          </a:prstGeom>
        </p:spPr>
      </p:pic>
    </p:spTree>
    <p:extLst>
      <p:ext uri="{BB962C8B-B14F-4D97-AF65-F5344CB8AC3E}">
        <p14:creationId xmlns:p14="http://schemas.microsoft.com/office/powerpoint/2010/main" val="2062861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85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14" name="Image 13">
            <a:extLst>
              <a:ext uri="{FF2B5EF4-FFF2-40B4-BE49-F238E27FC236}">
                <a16:creationId xmlns:a16="http://schemas.microsoft.com/office/drawing/2014/main" id="{A9EBFB87-9D2A-4A07-93D4-9307C76A2421}"/>
              </a:ext>
            </a:extLst>
          </p:cNvPr>
          <p:cNvPicPr>
            <a:picLocks noChangeAspect="1"/>
          </p:cNvPicPr>
          <p:nvPr/>
        </p:nvPicPr>
        <p:blipFill>
          <a:blip r:embed="rId3"/>
          <a:srcRect/>
          <a:stretch/>
        </p:blipFill>
        <p:spPr>
          <a:xfrm>
            <a:off x="4091355" y="1489314"/>
            <a:ext cx="4449230" cy="5168900"/>
          </a:xfrm>
          <a:prstGeom prst="rect">
            <a:avLst/>
          </a:prstGeom>
        </p:spPr>
      </p:pic>
      <p:pic>
        <p:nvPicPr>
          <p:cNvPr id="12" name="Image 11" descr="Une image contenant texte, machine agricole&#10;&#10;Description générée automatiquement">
            <a:extLst>
              <a:ext uri="{FF2B5EF4-FFF2-40B4-BE49-F238E27FC236}">
                <a16:creationId xmlns:a16="http://schemas.microsoft.com/office/drawing/2014/main" id="{37145215-0910-4B31-A7AD-837511973E23}"/>
              </a:ext>
            </a:extLst>
          </p:cNvPr>
          <p:cNvPicPr>
            <a:picLocks noChangeAspect="1"/>
          </p:cNvPicPr>
          <p:nvPr/>
        </p:nvPicPr>
        <p:blipFill>
          <a:blip r:embed="rId4"/>
          <a:stretch>
            <a:fillRect/>
          </a:stretch>
        </p:blipFill>
        <p:spPr>
          <a:xfrm>
            <a:off x="-1108561" y="-70318"/>
            <a:ext cx="3628805" cy="2816511"/>
          </a:xfrm>
          <a:prstGeom prst="rect">
            <a:avLst/>
          </a:prstGeom>
        </p:spPr>
      </p:pic>
      <p:sp>
        <p:nvSpPr>
          <p:cNvPr id="95" name="Google Shape;95;p2"/>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96" name="Google Shape;96;p2"/>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sp>
        <p:nvSpPr>
          <p:cNvPr id="97" name="Google Shape;97;p2"/>
          <p:cNvSpPr txBox="1"/>
          <p:nvPr/>
        </p:nvSpPr>
        <p:spPr>
          <a:xfrm>
            <a:off x="1989411" y="540572"/>
            <a:ext cx="8213179" cy="705386"/>
          </a:xfrm>
          <a:prstGeom prst="rect">
            <a:avLst/>
          </a:prstGeom>
          <a:noFill/>
          <a:ln>
            <a:noFill/>
          </a:ln>
        </p:spPr>
        <p:txBody>
          <a:bodyPr spcFirstLastPara="1" wrap="square" lIns="0" tIns="0" rIns="0" bIns="0" anchor="t" anchorCtr="0">
            <a:spAutoFit/>
          </a:bodyPr>
          <a:lstStyle/>
          <a:p>
            <a:pPr>
              <a:lnSpc>
                <a:spcPct val="125000"/>
              </a:lnSpc>
            </a:pPr>
            <a:r>
              <a:rPr lang="en-US" sz="3667" b="1" dirty="0">
                <a:solidFill>
                  <a:srgbClr val="202020"/>
                </a:solidFill>
                <a:latin typeface="Montserrat"/>
                <a:ea typeface="Montserrat"/>
                <a:cs typeface="Montserrat"/>
                <a:sym typeface="Montserrat"/>
              </a:rPr>
              <a:t>Concours</a:t>
            </a:r>
            <a:endParaRPr sz="1200" dirty="0"/>
          </a:p>
        </p:txBody>
      </p:sp>
      <p:pic>
        <p:nvPicPr>
          <p:cNvPr id="99" name="Google Shape;99;p2"/>
          <p:cNvPicPr preferRelativeResize="0"/>
          <p:nvPr/>
        </p:nvPicPr>
        <p:blipFill rotWithShape="1">
          <a:blip r:embed="rId5">
            <a:alphaModFix/>
          </a:blip>
          <a:srcRect b="21938"/>
          <a:stretch/>
        </p:blipFill>
        <p:spPr>
          <a:xfrm>
            <a:off x="-318941" y="217690"/>
            <a:ext cx="2124640" cy="1496809"/>
          </a:xfrm>
          <a:prstGeom prst="rect">
            <a:avLst/>
          </a:prstGeom>
          <a:noFill/>
          <a:ln>
            <a:noFill/>
          </a:ln>
        </p:spPr>
      </p:pic>
      <p:sp>
        <p:nvSpPr>
          <p:cNvPr id="3" name="Rectangle 2">
            <a:extLst>
              <a:ext uri="{FF2B5EF4-FFF2-40B4-BE49-F238E27FC236}">
                <a16:creationId xmlns:a16="http://schemas.microsoft.com/office/drawing/2014/main" id="{6CDA4289-DD20-451B-B126-4CB549E809FE}"/>
              </a:ext>
            </a:extLst>
          </p:cNvPr>
          <p:cNvSpPr/>
          <p:nvPr/>
        </p:nvSpPr>
        <p:spPr>
          <a:xfrm>
            <a:off x="2865315" y="442874"/>
            <a:ext cx="7425592" cy="1046440"/>
          </a:xfrm>
          <a:prstGeom prst="rect">
            <a:avLst/>
          </a:prstGeom>
          <a:noFill/>
        </p:spPr>
        <p:txBody>
          <a:bodyPr wrap="square" lIns="60960" tIns="30480" rIns="60960" bIns="30480">
            <a:spAutoFit/>
          </a:bodyPr>
          <a:lstStyle/>
          <a:p>
            <a:pPr algn="ctr"/>
            <a:r>
              <a:rPr lang="en-US" sz="6400" b="1" dirty="0">
                <a:ln w="12700">
                  <a:solidFill>
                    <a:schemeClr val="accent3">
                      <a:lumMod val="50000"/>
                    </a:schemeClr>
                  </a:solidFill>
                  <a:prstDash val="solid"/>
                </a:ln>
                <a:solidFill>
                  <a:srgbClr val="FF0000"/>
                </a:solidFill>
                <a:effectLst>
                  <a:innerShdw blurRad="177800">
                    <a:schemeClr val="accent3">
                      <a:lumMod val="50000"/>
                    </a:schemeClr>
                  </a:innerShdw>
                </a:effectLst>
                <a:latin typeface="Montserrat"/>
                <a:ea typeface="Montserrat"/>
                <a:cs typeface="Montserrat"/>
                <a:sym typeface="Montserrat"/>
              </a:rPr>
              <a:t>100 POUR 200</a:t>
            </a:r>
            <a:endParaRPr lang="fr-CA" sz="6400" b="1" dirty="0">
              <a:ln w="12700">
                <a:solidFill>
                  <a:schemeClr val="accent3">
                    <a:lumMod val="50000"/>
                  </a:schemeClr>
                </a:solidFill>
                <a:prstDash val="solid"/>
              </a:ln>
              <a:solidFill>
                <a:srgbClr val="FF0000"/>
              </a:solidFill>
              <a:effectLst>
                <a:innerShdw blurRad="177800">
                  <a:schemeClr val="accent3">
                    <a:lumMod val="50000"/>
                  </a:schemeClr>
                </a:innerShdw>
              </a:effectLst>
            </a:endParaRPr>
          </a:p>
        </p:txBody>
      </p:sp>
      <p:pic>
        <p:nvPicPr>
          <p:cNvPr id="5" name="Image 4">
            <a:extLst>
              <a:ext uri="{FF2B5EF4-FFF2-40B4-BE49-F238E27FC236}">
                <a16:creationId xmlns:a16="http://schemas.microsoft.com/office/drawing/2014/main" id="{8419030A-5ACB-4DF3-BA68-2AA810635976}"/>
              </a:ext>
            </a:extLst>
          </p:cNvPr>
          <p:cNvPicPr>
            <a:picLocks noChangeAspect="1"/>
          </p:cNvPicPr>
          <p:nvPr/>
        </p:nvPicPr>
        <p:blipFill rotWithShape="1">
          <a:blip r:embed="rId6"/>
          <a:srcRect l="6942" t="8777" r="6693" b="14641"/>
          <a:stretch/>
        </p:blipFill>
        <p:spPr>
          <a:xfrm>
            <a:off x="9795321" y="3429000"/>
            <a:ext cx="3628805" cy="2450123"/>
          </a:xfrm>
          <a:prstGeom prst="rect">
            <a:avLst/>
          </a:prstGeom>
        </p:spPr>
      </p:pic>
      <p:pic>
        <p:nvPicPr>
          <p:cNvPr id="13" name="Image 12">
            <a:extLst>
              <a:ext uri="{FF2B5EF4-FFF2-40B4-BE49-F238E27FC236}">
                <a16:creationId xmlns:a16="http://schemas.microsoft.com/office/drawing/2014/main" id="{7DF2ACBF-076E-4B3A-81F6-6C59E8C5EA39}"/>
              </a:ext>
            </a:extLst>
          </p:cNvPr>
          <p:cNvPicPr>
            <a:picLocks noChangeAspect="1"/>
          </p:cNvPicPr>
          <p:nvPr/>
        </p:nvPicPr>
        <p:blipFill rotWithShape="1">
          <a:blip r:embed="rId7"/>
          <a:srcRect t="35788" b="36561"/>
          <a:stretch/>
        </p:blipFill>
        <p:spPr>
          <a:xfrm>
            <a:off x="3401212" y="5953408"/>
            <a:ext cx="4913376" cy="904592"/>
          </a:xfrm>
          <a:prstGeom prst="rect">
            <a:avLst/>
          </a:prstGeom>
        </p:spPr>
      </p:pic>
    </p:spTree>
    <p:extLst>
      <p:ext uri="{BB962C8B-B14F-4D97-AF65-F5344CB8AC3E}">
        <p14:creationId xmlns:p14="http://schemas.microsoft.com/office/powerpoint/2010/main" val="155968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xit" presetSubtype="0" fill="hold" grpId="0" nodeType="withEffect">
                                  <p:stCondLst>
                                    <p:cond delay="0"/>
                                  </p:stCondLst>
                                  <p:childTnLst>
                                    <p:animEffect transition="out" filter="wipe(down)">
                                      <p:cBhvr>
                                        <p:cTn id="22" dur="90" accel="50000">
                                          <p:stCondLst>
                                            <p:cond delay="910"/>
                                          </p:stCondLst>
                                        </p:cTn>
                                        <p:tgtEl>
                                          <p:spTgt spid="97"/>
                                        </p:tgtEl>
                                      </p:cBhvr>
                                    </p:animEffect>
                                    <p:anim calcmode="lin" valueType="num">
                                      <p:cBhvr>
                                        <p:cTn id="23" dur="911" tmFilter="0,0; 0.14,0.31; 0.43,0.73; 0.71,0.91; 1.0,1.0">
                                          <p:stCondLst>
                                            <p:cond delay="0"/>
                                          </p:stCondLst>
                                        </p:cTn>
                                        <p:tgtEl>
                                          <p:spTgt spid="97"/>
                                        </p:tgtEl>
                                        <p:attrNameLst>
                                          <p:attrName>ppt_x</p:attrName>
                                        </p:attrNameLst>
                                      </p:cBhvr>
                                      <p:tavLst>
                                        <p:tav tm="0">
                                          <p:val>
                                            <p:strVal val="ppt_x"/>
                                          </p:val>
                                        </p:tav>
                                        <p:tav tm="100000">
                                          <p:val>
                                            <p:strVal val="#ppt_x+0.25"/>
                                          </p:val>
                                        </p:tav>
                                      </p:tavLst>
                                    </p:anim>
                                    <p:anim calcmode="lin" valueType="num">
                                      <p:cBhvr>
                                        <p:cTn id="24" dur="89">
                                          <p:stCondLst>
                                            <p:cond delay="911"/>
                                          </p:stCondLst>
                                        </p:cTn>
                                        <p:tgtEl>
                                          <p:spTgt spid="97"/>
                                        </p:tgtEl>
                                        <p:attrNameLst>
                                          <p:attrName>ppt_x</p:attrName>
                                        </p:attrNameLst>
                                      </p:cBhvr>
                                      <p:tavLst>
                                        <p:tav tm="0">
                                          <p:val>
                                            <p:strVal val="ppt_x"/>
                                          </p:val>
                                        </p:tav>
                                        <p:tav tm="100000">
                                          <p:val>
                                            <p:strVal val="ppt_x"/>
                                          </p:val>
                                        </p:tav>
                                      </p:tavLst>
                                    </p:anim>
                                    <p:anim calcmode="lin" valueType="num">
                                      <p:cBhvr>
                                        <p:cTn id="25" dur="332" tmFilter="0.0,0.0;0.25,0.07;0.50,0.2;0.75,0.467;1.0,1.0">
                                          <p:stCondLst>
                                            <p:cond delay="0"/>
                                          </p:stCondLst>
                                        </p:cTn>
                                        <p:tgtEl>
                                          <p:spTgt spid="97"/>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6" dur="332" tmFilter="0, 0; 0.125,0.2665; 0.25,0.4; 0.375,0.465; 0.5,0.5;  0.625,0.535; 0.75,0.6; 0.875,0.7335; 1,1">
                                          <p:stCondLst>
                                            <p:cond delay="332"/>
                                          </p:stCondLst>
                                        </p:cTn>
                                        <p:tgtEl>
                                          <p:spTgt spid="97"/>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7" dur="166" tmFilter="0, 0; 0.125,0.2665; 0.25,0.4; 0.375,0.465; 0.5,0.5;  0.625,0.535; 0.75,0.6; 0.875,0.7335; 1,1">
                                          <p:stCondLst>
                                            <p:cond delay="662"/>
                                          </p:stCondLst>
                                        </p:cTn>
                                        <p:tgtEl>
                                          <p:spTgt spid="97"/>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8" dur="82" tmFilter="0, 0; 0.125,0.2665; 0.25,0.4; 0.375,0.465; 0.5,0.5;  0.625,0.535; 0.75,0.6; 0.875,0.7335; 1,1">
                                          <p:stCondLst>
                                            <p:cond delay="828"/>
                                          </p:stCondLst>
                                        </p:cTn>
                                        <p:tgtEl>
                                          <p:spTgt spid="97"/>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9" dur="90" accel="50000">
                                          <p:stCondLst>
                                            <p:cond delay="910"/>
                                          </p:stCondLst>
                                        </p:cTn>
                                        <p:tgtEl>
                                          <p:spTgt spid="97"/>
                                        </p:tgtEl>
                                        <p:attrNameLst>
                                          <p:attrName>ppt_y</p:attrName>
                                        </p:attrNameLst>
                                      </p:cBhvr>
                                      <p:tavLst>
                                        <p:tav tm="0">
                                          <p:val>
                                            <p:strVal val="ppt_y"/>
                                          </p:val>
                                        </p:tav>
                                        <p:tav tm="100000">
                                          <p:val>
                                            <p:strVal val="ppt_y+ppt_h"/>
                                          </p:val>
                                        </p:tav>
                                      </p:tavLst>
                                    </p:anim>
                                    <p:animScale>
                                      <p:cBhvr>
                                        <p:cTn id="30" dur="13">
                                          <p:stCondLst>
                                            <p:cond delay="310"/>
                                          </p:stCondLst>
                                        </p:cTn>
                                        <p:tgtEl>
                                          <p:spTgt spid="97"/>
                                        </p:tgtEl>
                                      </p:cBhvr>
                                      <p:to x="100000" y="60000"/>
                                    </p:animScale>
                                    <p:animScale>
                                      <p:cBhvr>
                                        <p:cTn id="31" dur="83" decel="50000">
                                          <p:stCondLst>
                                            <p:cond delay="323"/>
                                          </p:stCondLst>
                                        </p:cTn>
                                        <p:tgtEl>
                                          <p:spTgt spid="97"/>
                                        </p:tgtEl>
                                      </p:cBhvr>
                                      <p:to x="100000" y="100000"/>
                                    </p:animScale>
                                    <p:animScale>
                                      <p:cBhvr>
                                        <p:cTn id="32" dur="13">
                                          <p:stCondLst>
                                            <p:cond delay="656"/>
                                          </p:stCondLst>
                                        </p:cTn>
                                        <p:tgtEl>
                                          <p:spTgt spid="97"/>
                                        </p:tgtEl>
                                      </p:cBhvr>
                                      <p:to x="100000" y="80000"/>
                                    </p:animScale>
                                    <p:animScale>
                                      <p:cBhvr>
                                        <p:cTn id="33" dur="83" decel="50000">
                                          <p:stCondLst>
                                            <p:cond delay="669"/>
                                          </p:stCondLst>
                                        </p:cTn>
                                        <p:tgtEl>
                                          <p:spTgt spid="97"/>
                                        </p:tgtEl>
                                      </p:cBhvr>
                                      <p:to x="100000" y="100000"/>
                                    </p:animScale>
                                    <p:animScale>
                                      <p:cBhvr>
                                        <p:cTn id="34" dur="13">
                                          <p:stCondLst>
                                            <p:cond delay="821"/>
                                          </p:stCondLst>
                                        </p:cTn>
                                        <p:tgtEl>
                                          <p:spTgt spid="97"/>
                                        </p:tgtEl>
                                      </p:cBhvr>
                                      <p:to x="100000" y="90000"/>
                                    </p:animScale>
                                    <p:animScale>
                                      <p:cBhvr>
                                        <p:cTn id="35" dur="83" decel="50000">
                                          <p:stCondLst>
                                            <p:cond delay="834"/>
                                          </p:stCondLst>
                                        </p:cTn>
                                        <p:tgtEl>
                                          <p:spTgt spid="97"/>
                                        </p:tgtEl>
                                      </p:cBhvr>
                                      <p:to x="100000" y="100000"/>
                                    </p:animScale>
                                    <p:animScale>
                                      <p:cBhvr>
                                        <p:cTn id="36" dur="13">
                                          <p:stCondLst>
                                            <p:cond delay="904"/>
                                          </p:stCondLst>
                                        </p:cTn>
                                        <p:tgtEl>
                                          <p:spTgt spid="97"/>
                                        </p:tgtEl>
                                      </p:cBhvr>
                                      <p:to x="100000" y="95000"/>
                                    </p:animScale>
                                    <p:animScale>
                                      <p:cBhvr>
                                        <p:cTn id="37" dur="83" decel="50000">
                                          <p:stCondLst>
                                            <p:cond delay="917"/>
                                          </p:stCondLst>
                                        </p:cTn>
                                        <p:tgtEl>
                                          <p:spTgt spid="97"/>
                                        </p:tgtEl>
                                      </p:cBhvr>
                                      <p:to x="100000" y="100000"/>
                                    </p:animScale>
                                    <p:set>
                                      <p:cBhvr>
                                        <p:cTn id="38" dur="1" fill="hold">
                                          <p:stCondLst>
                                            <p:cond delay="999"/>
                                          </p:stCondLst>
                                        </p:cTn>
                                        <p:tgtEl>
                                          <p:spTgt spid="97"/>
                                        </p:tgtEl>
                                        <p:attrNameLst>
                                          <p:attrName>style.visibility</p:attrName>
                                        </p:attrNameLst>
                                      </p:cBhvr>
                                      <p:to>
                                        <p:strVal val="hidden"/>
                                      </p:to>
                                    </p:set>
                                  </p:childTnLst>
                                </p:cTn>
                              </p:par>
                              <p:par>
                                <p:cTn id="39" presetID="2" presetClass="entr" presetSubtype="6"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1+#ppt_w/2"/>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par>
                                <p:cTn id="43" presetID="2" presetClass="entr" presetSubtype="9"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0-#ppt_w/2"/>
                                          </p:val>
                                        </p:tav>
                                        <p:tav tm="100000">
                                          <p:val>
                                            <p:strVal val="#ppt_x"/>
                                          </p:val>
                                        </p:tav>
                                      </p:tavLst>
                                    </p:anim>
                                    <p:anim calcmode="lin" valueType="num">
                                      <p:cBhvr additive="base">
                                        <p:cTn id="46" dur="500" fill="hold"/>
                                        <p:tgtEl>
                                          <p:spTgt spid="12"/>
                                        </p:tgtEl>
                                        <p:attrNameLst>
                                          <p:attrName>ppt_y</p:attrName>
                                        </p:attrNameLst>
                                      </p:cBhvr>
                                      <p:tavLst>
                                        <p:tav tm="0">
                                          <p:val>
                                            <p:strVal val="0-#ppt_h/2"/>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par>
                                <p:cTn id="52" presetID="10" presetClass="entr" presetSubtype="0"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42" presetClass="path" presetSubtype="0" accel="50000" decel="50000" fill="hold" nodeType="withEffect">
                                  <p:stCondLst>
                                    <p:cond delay="0"/>
                                  </p:stCondLst>
                                  <p:childTnLst>
                                    <p:animMotion origin="layout" path="M -1.38889E-7 6.17284E-7 L -0.10807 -0.29522 " pathEditMode="relative" rAng="0" ptsTypes="AA">
                                      <p:cBhvr>
                                        <p:cTn id="56" dur="2000" fill="hold"/>
                                        <p:tgtEl>
                                          <p:spTgt spid="5"/>
                                        </p:tgtEl>
                                        <p:attrNameLst>
                                          <p:attrName>ppt_x</p:attrName>
                                          <p:attrName>ppt_y</p:attrName>
                                        </p:attrNameLst>
                                      </p:cBhvr>
                                      <p:rCtr x="-5408" y="-14769"/>
                                    </p:animMotion>
                                  </p:childTnLst>
                                </p:cTn>
                              </p:par>
                              <p:par>
                                <p:cTn id="57" presetID="42" presetClass="path" presetSubtype="0" accel="50000" decel="50000" fill="hold" nodeType="withEffect">
                                  <p:stCondLst>
                                    <p:cond delay="0"/>
                                  </p:stCondLst>
                                  <p:childTnLst>
                                    <p:animMotion origin="layout" path="M 6.94444E-7 -1.7284E-6 L 0.13845 0.14398 " pathEditMode="relative" rAng="0" ptsTypes="AA">
                                      <p:cBhvr>
                                        <p:cTn id="58" dur="2000" fill="hold"/>
                                        <p:tgtEl>
                                          <p:spTgt spid="12"/>
                                        </p:tgtEl>
                                        <p:attrNameLst>
                                          <p:attrName>ppt_x</p:attrName>
                                          <p:attrName>ppt_y</p:attrName>
                                        </p:attrNameLst>
                                      </p:cBhvr>
                                      <p:rCtr x="6918" y="7191"/>
                                    </p:animMotion>
                                  </p:childTnLst>
                                </p:cTn>
                              </p:par>
                              <p:par>
                                <p:cTn id="59" presetID="6" presetClass="emph" presetSubtype="0" fill="hold" nodeType="withEffect">
                                  <p:stCondLst>
                                    <p:cond delay="0"/>
                                  </p:stCondLst>
                                  <p:childTnLst>
                                    <p:animScale>
                                      <p:cBhvr>
                                        <p:cTn id="60" dur="2000" fill="hold"/>
                                        <p:tgtEl>
                                          <p:spTgt spid="13"/>
                                        </p:tgtEl>
                                      </p:cBhvr>
                                      <p:by x="1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96" name="Google Shape;96;p2"/>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99" name="Google Shape;99;p2"/>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Rectangle 2">
            <a:extLst>
              <a:ext uri="{FF2B5EF4-FFF2-40B4-BE49-F238E27FC236}">
                <a16:creationId xmlns:a16="http://schemas.microsoft.com/office/drawing/2014/main" id="{6CDA4289-DD20-451B-B126-4CB549E809FE}"/>
              </a:ext>
            </a:extLst>
          </p:cNvPr>
          <p:cNvSpPr/>
          <p:nvPr/>
        </p:nvSpPr>
        <p:spPr>
          <a:xfrm>
            <a:off x="1805699" y="442874"/>
            <a:ext cx="7425592" cy="1046440"/>
          </a:xfrm>
          <a:prstGeom prst="rect">
            <a:avLst/>
          </a:prstGeom>
          <a:noFill/>
        </p:spPr>
        <p:txBody>
          <a:bodyPr wrap="square" lIns="60960" tIns="30480" rIns="60960" bIns="30480">
            <a:spAutoFit/>
          </a:bodyPr>
          <a:lstStyle/>
          <a:p>
            <a:pPr algn="ctr"/>
            <a:r>
              <a:rPr lang="en-US" sz="6400" b="1" dirty="0">
                <a:ln w="12700">
                  <a:solidFill>
                    <a:schemeClr val="accent3">
                      <a:lumMod val="50000"/>
                    </a:schemeClr>
                  </a:solidFill>
                  <a:prstDash val="solid"/>
                </a:ln>
                <a:solidFill>
                  <a:srgbClr val="FF0000"/>
                </a:solidFill>
                <a:effectLst>
                  <a:innerShdw blurRad="177800">
                    <a:schemeClr val="accent3">
                      <a:lumMod val="50000"/>
                    </a:schemeClr>
                  </a:innerShdw>
                </a:effectLst>
                <a:latin typeface="Montserrat"/>
                <a:ea typeface="Montserrat"/>
                <a:cs typeface="Montserrat"/>
                <a:sym typeface="Montserrat"/>
              </a:rPr>
              <a:t>100 POUR 200</a:t>
            </a:r>
            <a:endParaRPr lang="fr-CA" sz="6400" b="1" dirty="0">
              <a:ln w="12700">
                <a:solidFill>
                  <a:schemeClr val="accent3">
                    <a:lumMod val="50000"/>
                  </a:schemeClr>
                </a:solidFill>
                <a:prstDash val="solid"/>
              </a:ln>
              <a:solidFill>
                <a:srgbClr val="FF0000"/>
              </a:solidFill>
              <a:effectLst>
                <a:innerShdw blurRad="177800">
                  <a:schemeClr val="accent3">
                    <a:lumMod val="50000"/>
                  </a:schemeClr>
                </a:innerShdw>
              </a:effectLst>
            </a:endParaRPr>
          </a:p>
        </p:txBody>
      </p:sp>
      <p:sp>
        <p:nvSpPr>
          <p:cNvPr id="2" name="ZoneTexte 1">
            <a:extLst>
              <a:ext uri="{FF2B5EF4-FFF2-40B4-BE49-F238E27FC236}">
                <a16:creationId xmlns:a16="http://schemas.microsoft.com/office/drawing/2014/main" id="{A1E85F05-7D23-46C5-A9FA-30762CDB7F82}"/>
              </a:ext>
            </a:extLst>
          </p:cNvPr>
          <p:cNvSpPr txBox="1"/>
          <p:nvPr/>
        </p:nvSpPr>
        <p:spPr>
          <a:xfrm>
            <a:off x="2145324" y="1714499"/>
            <a:ext cx="5931877" cy="2308324"/>
          </a:xfrm>
          <a:prstGeom prst="rect">
            <a:avLst/>
          </a:prstGeom>
          <a:noFill/>
        </p:spPr>
        <p:txBody>
          <a:bodyPr wrap="square" rtlCol="0">
            <a:spAutoFit/>
          </a:bodyPr>
          <a:lstStyle/>
          <a:p>
            <a:pPr marL="228611" indent="-228611">
              <a:buFont typeface="Arial" panose="020B0604020202020204" pitchFamily="34" charset="0"/>
              <a:buChar char="•"/>
            </a:pPr>
            <a:r>
              <a:rPr lang="fr-CA" sz="1600" dirty="0"/>
              <a:t>SPOTTER 100 MAISONS</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ÉVALUER LA MAISON (SANS FAIRE D’INVASION DE DOMICILE)</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PRÉPARER UNE LISTE DE PAP SOLIDE</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COGNER À UNE MAISON APRÈS L’AUTRE</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SIGNER EN FOU</a:t>
            </a:r>
          </a:p>
        </p:txBody>
      </p:sp>
      <p:pic>
        <p:nvPicPr>
          <p:cNvPr id="6" name="Image 5" descr="Une image contenant chat, intérieur, arme à feu, arme&#10;&#10;Description générée automatiquement">
            <a:extLst>
              <a:ext uri="{FF2B5EF4-FFF2-40B4-BE49-F238E27FC236}">
                <a16:creationId xmlns:a16="http://schemas.microsoft.com/office/drawing/2014/main" id="{20EC3152-ABFD-4602-AC88-A532C2238FED}"/>
              </a:ext>
            </a:extLst>
          </p:cNvPr>
          <p:cNvPicPr>
            <a:picLocks noChangeAspect="1"/>
          </p:cNvPicPr>
          <p:nvPr/>
        </p:nvPicPr>
        <p:blipFill>
          <a:blip r:embed="rId4"/>
          <a:stretch>
            <a:fillRect/>
          </a:stretch>
        </p:blipFill>
        <p:spPr>
          <a:xfrm>
            <a:off x="7723262" y="1422401"/>
            <a:ext cx="4388923" cy="3650875"/>
          </a:xfrm>
          <a:prstGeom prst="rect">
            <a:avLst/>
          </a:prstGeom>
        </p:spPr>
      </p:pic>
    </p:spTree>
    <p:extLst>
      <p:ext uri="{BB962C8B-B14F-4D97-AF65-F5344CB8AC3E}">
        <p14:creationId xmlns:p14="http://schemas.microsoft.com/office/powerpoint/2010/main" val="1958270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279400" y="1422400"/>
            <a:ext cx="25400" cy="5486400"/>
          </a:xfrm>
          <a:prstGeom prst="rect">
            <a:avLst/>
          </a:prstGeom>
          <a:solidFill>
            <a:srgbClr val="202020"/>
          </a:solidFill>
          <a:ln>
            <a:noFill/>
          </a:ln>
        </p:spPr>
        <p:txBody>
          <a:bodyPr spcFirstLastPara="1" wrap="square" lIns="60950" tIns="60950" rIns="60950" bIns="60950" anchor="ctr" anchorCtr="0">
            <a:noAutofit/>
          </a:bodyPr>
          <a:lstStyle/>
          <a:p>
            <a:endParaRPr sz="1200"/>
          </a:p>
        </p:txBody>
      </p:sp>
      <p:sp>
        <p:nvSpPr>
          <p:cNvPr id="96" name="Google Shape;96;p2"/>
          <p:cNvSpPr/>
          <p:nvPr/>
        </p:nvSpPr>
        <p:spPr>
          <a:xfrm>
            <a:off x="-1" y="-137139"/>
            <a:ext cx="1486761" cy="2766065"/>
          </a:xfrm>
          <a:prstGeom prst="rect">
            <a:avLst/>
          </a:prstGeom>
          <a:solidFill>
            <a:srgbClr val="FF0000"/>
          </a:solidFill>
          <a:ln>
            <a:noFill/>
          </a:ln>
        </p:spPr>
        <p:txBody>
          <a:bodyPr spcFirstLastPara="1" wrap="square" lIns="60950" tIns="60950" rIns="60950" bIns="60950" anchor="ctr" anchorCtr="0">
            <a:noAutofit/>
          </a:bodyPr>
          <a:lstStyle/>
          <a:p>
            <a:endParaRPr sz="1200"/>
          </a:p>
        </p:txBody>
      </p:sp>
      <p:pic>
        <p:nvPicPr>
          <p:cNvPr id="99" name="Google Shape;99;p2"/>
          <p:cNvPicPr preferRelativeResize="0"/>
          <p:nvPr/>
        </p:nvPicPr>
        <p:blipFill rotWithShape="1">
          <a:blip r:embed="rId3">
            <a:alphaModFix/>
          </a:blip>
          <a:srcRect b="21938"/>
          <a:stretch/>
        </p:blipFill>
        <p:spPr>
          <a:xfrm>
            <a:off x="-318941" y="217690"/>
            <a:ext cx="2124640" cy="1496809"/>
          </a:xfrm>
          <a:prstGeom prst="rect">
            <a:avLst/>
          </a:prstGeom>
          <a:noFill/>
          <a:ln>
            <a:noFill/>
          </a:ln>
        </p:spPr>
      </p:pic>
      <p:sp>
        <p:nvSpPr>
          <p:cNvPr id="3" name="Rectangle 2">
            <a:extLst>
              <a:ext uri="{FF2B5EF4-FFF2-40B4-BE49-F238E27FC236}">
                <a16:creationId xmlns:a16="http://schemas.microsoft.com/office/drawing/2014/main" id="{6CDA4289-DD20-451B-B126-4CB549E809FE}"/>
              </a:ext>
            </a:extLst>
          </p:cNvPr>
          <p:cNvSpPr/>
          <p:nvPr/>
        </p:nvSpPr>
        <p:spPr>
          <a:xfrm>
            <a:off x="1805699" y="442874"/>
            <a:ext cx="7425592" cy="1046440"/>
          </a:xfrm>
          <a:prstGeom prst="rect">
            <a:avLst/>
          </a:prstGeom>
          <a:noFill/>
        </p:spPr>
        <p:txBody>
          <a:bodyPr wrap="square" lIns="60960" tIns="30480" rIns="60960" bIns="30480">
            <a:spAutoFit/>
          </a:bodyPr>
          <a:lstStyle/>
          <a:p>
            <a:pPr algn="ctr"/>
            <a:r>
              <a:rPr lang="en-US" sz="6400" b="1" dirty="0">
                <a:ln w="12700">
                  <a:solidFill>
                    <a:schemeClr val="accent3">
                      <a:lumMod val="50000"/>
                    </a:schemeClr>
                  </a:solidFill>
                  <a:prstDash val="solid"/>
                </a:ln>
                <a:solidFill>
                  <a:srgbClr val="FF0000"/>
                </a:solidFill>
                <a:effectLst>
                  <a:innerShdw blurRad="177800">
                    <a:schemeClr val="accent3">
                      <a:lumMod val="50000"/>
                    </a:schemeClr>
                  </a:innerShdw>
                </a:effectLst>
                <a:latin typeface="Montserrat"/>
                <a:ea typeface="Montserrat"/>
                <a:cs typeface="Montserrat"/>
                <a:sym typeface="Montserrat"/>
              </a:rPr>
              <a:t>100 POUR 200</a:t>
            </a:r>
            <a:endParaRPr lang="fr-CA" sz="6400" b="1" dirty="0">
              <a:ln w="12700">
                <a:solidFill>
                  <a:schemeClr val="accent3">
                    <a:lumMod val="50000"/>
                  </a:schemeClr>
                </a:solidFill>
                <a:prstDash val="solid"/>
              </a:ln>
              <a:solidFill>
                <a:srgbClr val="FF0000"/>
              </a:solidFill>
              <a:effectLst>
                <a:innerShdw blurRad="177800">
                  <a:schemeClr val="accent3">
                    <a:lumMod val="50000"/>
                  </a:schemeClr>
                </a:innerShdw>
              </a:effectLst>
            </a:endParaRPr>
          </a:p>
        </p:txBody>
      </p:sp>
      <p:sp>
        <p:nvSpPr>
          <p:cNvPr id="2" name="ZoneTexte 1">
            <a:extLst>
              <a:ext uri="{FF2B5EF4-FFF2-40B4-BE49-F238E27FC236}">
                <a16:creationId xmlns:a16="http://schemas.microsoft.com/office/drawing/2014/main" id="{A1E85F05-7D23-46C5-A9FA-30762CDB7F82}"/>
              </a:ext>
            </a:extLst>
          </p:cNvPr>
          <p:cNvSpPr txBox="1"/>
          <p:nvPr/>
        </p:nvSpPr>
        <p:spPr>
          <a:xfrm>
            <a:off x="2145324" y="1714499"/>
            <a:ext cx="5931877" cy="1815882"/>
          </a:xfrm>
          <a:prstGeom prst="rect">
            <a:avLst/>
          </a:prstGeom>
          <a:noFill/>
        </p:spPr>
        <p:txBody>
          <a:bodyPr wrap="square" rtlCol="0">
            <a:spAutoFit/>
          </a:bodyPr>
          <a:lstStyle/>
          <a:p>
            <a:pPr marL="228611" indent="-228611">
              <a:buFont typeface="Arial" panose="020B0604020202020204" pitchFamily="34" charset="0"/>
              <a:buChar char="•"/>
            </a:pPr>
            <a:r>
              <a:rPr lang="fr-CA" sz="1600" dirty="0"/>
              <a:t>POURQUOI ON FAIT ÇA?</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QU’EST-CE QU’ON GAGNE?</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JUSQU’À QUAND?</a:t>
            </a:r>
          </a:p>
          <a:p>
            <a:pPr marL="228611" indent="-228611">
              <a:buFont typeface="Arial" panose="020B0604020202020204" pitchFamily="34" charset="0"/>
              <a:buChar char="•"/>
            </a:pPr>
            <a:endParaRPr lang="fr-CA" sz="1600" dirty="0"/>
          </a:p>
          <a:p>
            <a:pPr marL="228611" indent="-228611">
              <a:buFont typeface="Arial" panose="020B0604020202020204" pitchFamily="34" charset="0"/>
              <a:buChar char="•"/>
            </a:pPr>
            <a:r>
              <a:rPr lang="fr-CA" sz="1600" dirty="0"/>
              <a:t>QUI SONT MES ÉQUIPIERS?</a:t>
            </a:r>
          </a:p>
        </p:txBody>
      </p:sp>
      <p:pic>
        <p:nvPicPr>
          <p:cNvPr id="5" name="Image 4" descr="Une image contenant extérieur, route, personne, rue&#10;&#10;Description générée automatiquement">
            <a:extLst>
              <a:ext uri="{FF2B5EF4-FFF2-40B4-BE49-F238E27FC236}">
                <a16:creationId xmlns:a16="http://schemas.microsoft.com/office/drawing/2014/main" id="{3435A66B-F119-49ED-8167-400671BDE2EB}"/>
              </a:ext>
            </a:extLst>
          </p:cNvPr>
          <p:cNvPicPr>
            <a:picLocks noChangeAspect="1"/>
          </p:cNvPicPr>
          <p:nvPr/>
        </p:nvPicPr>
        <p:blipFill>
          <a:blip r:embed="rId4"/>
          <a:stretch>
            <a:fillRect/>
          </a:stretch>
        </p:blipFill>
        <p:spPr>
          <a:xfrm>
            <a:off x="7007958" y="3444876"/>
            <a:ext cx="5092700" cy="3397250"/>
          </a:xfrm>
          <a:prstGeom prst="rect">
            <a:avLst/>
          </a:prstGeom>
        </p:spPr>
      </p:pic>
      <p:sp>
        <p:nvSpPr>
          <p:cNvPr id="10" name="ZoneTexte 9">
            <a:extLst>
              <a:ext uri="{FF2B5EF4-FFF2-40B4-BE49-F238E27FC236}">
                <a16:creationId xmlns:a16="http://schemas.microsoft.com/office/drawing/2014/main" id="{1A2CE1EE-3E8B-4CF4-AE9B-CC13336C0D9E}"/>
              </a:ext>
            </a:extLst>
          </p:cNvPr>
          <p:cNvSpPr txBox="1"/>
          <p:nvPr/>
        </p:nvSpPr>
        <p:spPr>
          <a:xfrm>
            <a:off x="373918" y="4047882"/>
            <a:ext cx="3551359" cy="830997"/>
          </a:xfrm>
          <a:prstGeom prst="rect">
            <a:avLst/>
          </a:prstGeom>
          <a:noFill/>
        </p:spPr>
        <p:txBody>
          <a:bodyPr wrap="square" rtlCol="0">
            <a:spAutoFit/>
          </a:bodyPr>
          <a:lstStyle/>
          <a:p>
            <a:pPr marL="228611" indent="-228611">
              <a:buFont typeface="Arial" panose="020B0604020202020204" pitchFamily="34" charset="0"/>
              <a:buChar char="•"/>
            </a:pPr>
            <a:r>
              <a:rPr lang="fr-CA" sz="1600" dirty="0"/>
              <a:t>MATH SLASHER BLAIS</a:t>
            </a:r>
          </a:p>
          <a:p>
            <a:pPr marL="228611" indent="-228611">
              <a:buFont typeface="Arial" panose="020B0604020202020204" pitchFamily="34" charset="0"/>
              <a:buChar char="•"/>
            </a:pPr>
            <a:r>
              <a:rPr lang="fr-CA" sz="1600" dirty="0"/>
              <a:t>PO PETIT CHAT BROCHU</a:t>
            </a:r>
          </a:p>
          <a:p>
            <a:pPr marL="228611" indent="-228611">
              <a:buFont typeface="Arial" panose="020B0604020202020204" pitchFamily="34" charset="0"/>
              <a:buChar char="•"/>
            </a:pPr>
            <a:r>
              <a:rPr lang="fr-CA" sz="1600" dirty="0"/>
              <a:t>OLIVIER BABY-FACE BLOUIN</a:t>
            </a:r>
          </a:p>
        </p:txBody>
      </p:sp>
      <p:sp>
        <p:nvSpPr>
          <p:cNvPr id="11" name="ZoneTexte 10">
            <a:extLst>
              <a:ext uri="{FF2B5EF4-FFF2-40B4-BE49-F238E27FC236}">
                <a16:creationId xmlns:a16="http://schemas.microsoft.com/office/drawing/2014/main" id="{59DDC28C-4CBF-42A2-A158-5238B54A762D}"/>
              </a:ext>
            </a:extLst>
          </p:cNvPr>
          <p:cNvSpPr txBox="1"/>
          <p:nvPr/>
        </p:nvSpPr>
        <p:spPr>
          <a:xfrm>
            <a:off x="2640135" y="3668809"/>
            <a:ext cx="5931877" cy="338554"/>
          </a:xfrm>
          <a:prstGeom prst="rect">
            <a:avLst/>
          </a:prstGeom>
          <a:noFill/>
        </p:spPr>
        <p:txBody>
          <a:bodyPr wrap="square" rtlCol="0">
            <a:spAutoFit/>
          </a:bodyPr>
          <a:lstStyle/>
          <a:p>
            <a:r>
              <a:rPr lang="fr-CA" sz="1600" b="1" u="sng" dirty="0"/>
              <a:t>VOTRE ÉQUIPE</a:t>
            </a:r>
          </a:p>
        </p:txBody>
      </p:sp>
      <p:sp>
        <p:nvSpPr>
          <p:cNvPr id="17" name="ZoneTexte 16">
            <a:extLst>
              <a:ext uri="{FF2B5EF4-FFF2-40B4-BE49-F238E27FC236}">
                <a16:creationId xmlns:a16="http://schemas.microsoft.com/office/drawing/2014/main" id="{8620FE53-4FF4-4A11-B1BA-833281C6A02F}"/>
              </a:ext>
            </a:extLst>
          </p:cNvPr>
          <p:cNvSpPr txBox="1"/>
          <p:nvPr/>
        </p:nvSpPr>
        <p:spPr>
          <a:xfrm>
            <a:off x="3537439" y="4047882"/>
            <a:ext cx="3470519" cy="830997"/>
          </a:xfrm>
          <a:prstGeom prst="rect">
            <a:avLst/>
          </a:prstGeom>
          <a:noFill/>
        </p:spPr>
        <p:txBody>
          <a:bodyPr wrap="square" rtlCol="0">
            <a:spAutoFit/>
          </a:bodyPr>
          <a:lstStyle/>
          <a:p>
            <a:pPr marL="228611" indent="-228611">
              <a:buFont typeface="Arial" panose="020B0604020202020204" pitchFamily="34" charset="0"/>
              <a:buChar char="•"/>
            </a:pPr>
            <a:r>
              <a:rPr lang="fr-CA" sz="1600" dirty="0"/>
              <a:t>SAMANTA DANGER ORTIZ</a:t>
            </a:r>
          </a:p>
          <a:p>
            <a:pPr marL="228611" indent="-228611">
              <a:buFont typeface="Arial" panose="020B0604020202020204" pitchFamily="34" charset="0"/>
              <a:buChar char="•"/>
            </a:pPr>
            <a:r>
              <a:rPr lang="fr-CA" sz="1600" dirty="0"/>
              <a:t>LÉA THE TANK JEAN</a:t>
            </a:r>
          </a:p>
          <a:p>
            <a:pPr marL="228611" indent="-228611">
              <a:buFont typeface="Arial" panose="020B0604020202020204" pitchFamily="34" charset="0"/>
              <a:buChar char="•"/>
            </a:pPr>
            <a:r>
              <a:rPr lang="fr-CA" sz="1600" dirty="0"/>
              <a:t>MARIANNE MACHETE TESSIER</a:t>
            </a:r>
          </a:p>
        </p:txBody>
      </p:sp>
      <p:sp>
        <p:nvSpPr>
          <p:cNvPr id="18" name="ZoneTexte 17">
            <a:extLst>
              <a:ext uri="{FF2B5EF4-FFF2-40B4-BE49-F238E27FC236}">
                <a16:creationId xmlns:a16="http://schemas.microsoft.com/office/drawing/2014/main" id="{B2B7DED4-1FBD-4DC2-858A-6B827F4A1D33}"/>
              </a:ext>
            </a:extLst>
          </p:cNvPr>
          <p:cNvSpPr txBox="1"/>
          <p:nvPr/>
        </p:nvSpPr>
        <p:spPr>
          <a:xfrm>
            <a:off x="373918" y="5131290"/>
            <a:ext cx="2388821" cy="830997"/>
          </a:xfrm>
          <a:prstGeom prst="rect">
            <a:avLst/>
          </a:prstGeom>
          <a:noFill/>
        </p:spPr>
        <p:txBody>
          <a:bodyPr wrap="square" rtlCol="0">
            <a:spAutoFit/>
          </a:bodyPr>
          <a:lstStyle/>
          <a:p>
            <a:pPr marL="228611" indent="-228611">
              <a:buFont typeface="Arial" panose="020B0604020202020204" pitchFamily="34" charset="0"/>
              <a:buChar char="•"/>
            </a:pPr>
            <a:r>
              <a:rPr lang="fr-CA" sz="1600" dirty="0"/>
              <a:t>JO DEL FUEGO</a:t>
            </a:r>
          </a:p>
          <a:p>
            <a:pPr marL="228611" indent="-228611">
              <a:buFont typeface="Arial" panose="020B0604020202020204" pitchFamily="34" charset="0"/>
              <a:buChar char="•"/>
            </a:pPr>
            <a:r>
              <a:rPr lang="fr-CA" sz="1600" dirty="0"/>
              <a:t>CAM POW-POUW</a:t>
            </a:r>
          </a:p>
          <a:p>
            <a:pPr marL="228611" indent="-228611">
              <a:buFont typeface="Arial" panose="020B0604020202020204" pitchFamily="34" charset="0"/>
              <a:buChar char="•"/>
            </a:pPr>
            <a:r>
              <a:rPr lang="fr-CA" sz="1600" dirty="0"/>
              <a:t>DAVID THE MAN SU</a:t>
            </a:r>
          </a:p>
        </p:txBody>
      </p:sp>
      <p:sp>
        <p:nvSpPr>
          <p:cNvPr id="19" name="ZoneTexte 18">
            <a:extLst>
              <a:ext uri="{FF2B5EF4-FFF2-40B4-BE49-F238E27FC236}">
                <a16:creationId xmlns:a16="http://schemas.microsoft.com/office/drawing/2014/main" id="{F02681F4-C287-4C71-BE16-B51D40BE839E}"/>
              </a:ext>
            </a:extLst>
          </p:cNvPr>
          <p:cNvSpPr txBox="1"/>
          <p:nvPr/>
        </p:nvSpPr>
        <p:spPr>
          <a:xfrm>
            <a:off x="3537439" y="5131290"/>
            <a:ext cx="3242164" cy="830997"/>
          </a:xfrm>
          <a:prstGeom prst="rect">
            <a:avLst/>
          </a:prstGeom>
          <a:noFill/>
        </p:spPr>
        <p:txBody>
          <a:bodyPr wrap="square" rtlCol="0">
            <a:spAutoFit/>
          </a:bodyPr>
          <a:lstStyle/>
          <a:p>
            <a:pPr marL="228611" indent="-228611">
              <a:buFont typeface="Arial" panose="020B0604020202020204" pitchFamily="34" charset="0"/>
              <a:buChar char="•"/>
            </a:pPr>
            <a:r>
              <a:rPr lang="fr-CA" sz="1600" dirty="0"/>
              <a:t>NAIMEE BADASS RAMAGLIA</a:t>
            </a:r>
          </a:p>
          <a:p>
            <a:pPr marL="228611" indent="-228611">
              <a:buFont typeface="Arial" panose="020B0604020202020204" pitchFamily="34" charset="0"/>
              <a:buChar char="•"/>
            </a:pPr>
            <a:r>
              <a:rPr lang="fr-CA" sz="1600" dirty="0"/>
              <a:t>CHRIS STALONE HARRISON</a:t>
            </a:r>
          </a:p>
          <a:p>
            <a:pPr marL="228611" indent="-228611">
              <a:buFont typeface="Arial" panose="020B0604020202020204" pitchFamily="34" charset="0"/>
              <a:buChar char="•"/>
            </a:pPr>
            <a:r>
              <a:rPr lang="fr-CA" sz="1600" dirty="0"/>
              <a:t>ILIAS WAR MONGER OUMAMI</a:t>
            </a:r>
          </a:p>
        </p:txBody>
      </p:sp>
      <p:sp>
        <p:nvSpPr>
          <p:cNvPr id="20" name="ZoneTexte 19">
            <a:extLst>
              <a:ext uri="{FF2B5EF4-FFF2-40B4-BE49-F238E27FC236}">
                <a16:creationId xmlns:a16="http://schemas.microsoft.com/office/drawing/2014/main" id="{C7680788-E26A-47CC-A1FE-5D6FDB5ABCD6}"/>
              </a:ext>
            </a:extLst>
          </p:cNvPr>
          <p:cNvSpPr txBox="1"/>
          <p:nvPr/>
        </p:nvSpPr>
        <p:spPr>
          <a:xfrm>
            <a:off x="4242289" y="2661346"/>
            <a:ext cx="5931877" cy="338554"/>
          </a:xfrm>
          <a:prstGeom prst="rect">
            <a:avLst/>
          </a:prstGeom>
          <a:noFill/>
        </p:spPr>
        <p:txBody>
          <a:bodyPr wrap="square" rtlCol="0">
            <a:spAutoFit/>
          </a:bodyPr>
          <a:lstStyle/>
          <a:p>
            <a:r>
              <a:rPr lang="fr-CA" sz="1600" b="1" u="sng" dirty="0"/>
              <a:t>8 FÉVRIER 2021</a:t>
            </a:r>
          </a:p>
        </p:txBody>
      </p:sp>
    </p:spTree>
    <p:extLst>
      <p:ext uri="{BB962C8B-B14F-4D97-AF65-F5344CB8AC3E}">
        <p14:creationId xmlns:p14="http://schemas.microsoft.com/office/powerpoint/2010/main" val="218592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p:bldP spid="18" grpId="0"/>
      <p:bldP spid="19" grpId="0"/>
      <p:bldP spid="20"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6578</TotalTime>
  <Words>1279</Words>
  <Application>Microsoft Office PowerPoint</Application>
  <PresentationFormat>Grand écran</PresentationFormat>
  <Paragraphs>390</Paragraphs>
  <Slides>22</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Calibri Light</vt:lpstr>
      <vt:lpstr>Montserrat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Eliott Woodrough</dc:creator>
  <cp:lastModifiedBy>Eliott Woodrough</cp:lastModifiedBy>
  <cp:revision>92</cp:revision>
  <dcterms:created xsi:type="dcterms:W3CDTF">2021-01-13T15:57:01Z</dcterms:created>
  <dcterms:modified xsi:type="dcterms:W3CDTF">2021-01-23T13:47:45Z</dcterms:modified>
</cp:coreProperties>
</file>